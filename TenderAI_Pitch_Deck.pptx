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E5A0"/>
          </a:solidFill>
          <a:ln/>
        </p:spPr>
      </p:sp>
      <p:sp>
        <p:nvSpPr>
          <p:cNvPr id="3" name="Shape 1"/>
          <p:cNvSpPr/>
          <p:nvPr/>
        </p:nvSpPr>
        <p:spPr>
          <a:xfrm>
            <a:off x="8534095" y="-1828800"/>
            <a:ext cx="5486400" cy="3657600"/>
          </a:xfrm>
          <a:prstGeom prst="ellipse">
            <a:avLst/>
          </a:prstGeom>
          <a:solidFill>
            <a:srgbClr val="00E5A0">
              <a:alpha val="8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-1828800" y="4114800"/>
            <a:ext cx="5486400" cy="3657600"/>
          </a:xfrm>
          <a:prstGeom prst="ellipse">
            <a:avLst/>
          </a:prstGeom>
          <a:solidFill>
            <a:srgbClr val="3D8BFD">
              <a:alpha val="8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640080" y="640080"/>
            <a:ext cx="822960" cy="822960"/>
          </a:xfrm>
          <a:prstGeom prst="roundRect">
            <a:avLst>
              <a:gd name="adj" fmla="val 17778"/>
            </a:avLst>
          </a:prstGeom>
          <a:solidFill>
            <a:srgbClr val="00E5A0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64008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1600200" y="640080"/>
            <a:ext cx="4572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TenderAI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8534095" y="777240"/>
            <a:ext cx="2926080" cy="411480"/>
          </a:xfrm>
          <a:prstGeom prst="roundRect">
            <a:avLst>
              <a:gd name="adj" fmla="val 50000"/>
            </a:avLst>
          </a:prstGeom>
          <a:solidFill>
            <a:srgbClr val="0F2845"/>
          </a:solidFill>
          <a:ln w="9525">
            <a:solidFill>
              <a:srgbClr val="1F3F7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534095" y="777240"/>
            <a:ext cx="2926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00E5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🇮🇳  CRPF · Theme 3 · Hackathon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40080" y="21031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0" b="1" spc="-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</a:t>
            </a:r>
            <a:endParaRPr lang="en-US" sz="8400" dirty="0"/>
          </a:p>
        </p:txBody>
      </p:sp>
      <p:sp>
        <p:nvSpPr>
          <p:cNvPr id="11" name="Text 9"/>
          <p:cNvSpPr/>
          <p:nvPr/>
        </p:nvSpPr>
        <p:spPr>
          <a:xfrm>
            <a:off x="640080" y="310896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0" b="1" spc="-200" kern="0" dirty="0">
                <a:solidFill>
                  <a:srgbClr val="00E5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eligibility analysis</a:t>
            </a:r>
            <a:endParaRPr lang="en-US" sz="8400" dirty="0"/>
          </a:p>
        </p:txBody>
      </p:sp>
      <p:sp>
        <p:nvSpPr>
          <p:cNvPr id="12" name="Text 10"/>
          <p:cNvSpPr/>
          <p:nvPr/>
        </p:nvSpPr>
        <p:spPr>
          <a:xfrm>
            <a:off x="640080" y="41148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spc="-100" kern="0" dirty="0">
                <a:solidFill>
                  <a:srgbClr val="E8ECF4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for government procurement.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0080" y="5074920"/>
            <a:ext cx="8686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8A9AB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AI that turns 200-page tenders + heterogeneous bidder docs into explainable, auditable Pass / Fail / Review verdicts — in minutes, not days.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0" y="6035040"/>
            <a:ext cx="12191695" cy="822960"/>
          </a:xfrm>
          <a:prstGeom prst="rect">
            <a:avLst/>
          </a:prstGeom>
          <a:solidFill>
            <a:srgbClr val="0F1F3D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" y="6080760"/>
            <a:ext cx="109115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E5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 · React 18 + Vite (Vercel)    BACKEND · FastAPI + Uvicorn (Render)    AUTH · Local · admin / crpf@2025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40080" y="6400800"/>
            <a:ext cx="109115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AB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TenderAI Project · Round 1 → Round 2 ready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E5A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A1628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0E5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THE PROBLEM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77724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spc="-100" kern="0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Tender evaluation is slow, inconsistent, and unauditable today.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640080" y="1920240"/>
            <a:ext cx="2194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0A7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200+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2834640" y="2011680"/>
            <a:ext cx="3931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PAGES PER TENDER (NIT)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2788920"/>
            <a:ext cx="2194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0A7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10–30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2834640" y="2880360"/>
            <a:ext cx="3931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BIDDERS PER TENDER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40080" y="3657600"/>
            <a:ext cx="2194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0A7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min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2834640" y="3749040"/>
            <a:ext cx="3931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TIME PER CRITERION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40080" y="4526280"/>
            <a:ext cx="2194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0A7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Days</a:t>
            </a:r>
            <a:endParaRPr lang="en-US" sz="3600" dirty="0"/>
          </a:p>
        </p:txBody>
      </p:sp>
      <p:sp>
        <p:nvSpPr>
          <p:cNvPr id="13" name="Text 11"/>
          <p:cNvSpPr/>
          <p:nvPr/>
        </p:nvSpPr>
        <p:spPr>
          <a:xfrm>
            <a:off x="2834640" y="4617720"/>
            <a:ext cx="3931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REACH A SIGN-OFF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315200" y="1783080"/>
            <a:ext cx="4297680" cy="429768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589520" y="1920240"/>
            <a:ext cx="4023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happens in real life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635240" y="2560320"/>
            <a:ext cx="164592" cy="164592"/>
          </a:xfrm>
          <a:prstGeom prst="ellipse">
            <a:avLst/>
          </a:prstGeom>
          <a:solidFill>
            <a:srgbClr val="FF4D6A"/>
          </a:solidFill>
          <a:ln/>
        </p:spPr>
      </p:sp>
      <p:sp>
        <p:nvSpPr>
          <p:cNvPr id="17" name="Text 15"/>
          <p:cNvSpPr/>
          <p:nvPr/>
        </p:nvSpPr>
        <p:spPr>
          <a:xfrm>
            <a:off x="7955280" y="2468880"/>
            <a:ext cx="3611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Two evaluators reach different verdicts on the same packet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7635240" y="3200400"/>
            <a:ext cx="164592" cy="164592"/>
          </a:xfrm>
          <a:prstGeom prst="ellipse">
            <a:avLst/>
          </a:prstGeom>
          <a:solidFill>
            <a:srgbClr val="FF4D6A"/>
          </a:solidFill>
          <a:ln/>
        </p:spPr>
      </p:sp>
      <p:sp>
        <p:nvSpPr>
          <p:cNvPr id="19" name="Text 17"/>
          <p:cNvSpPr/>
          <p:nvPr/>
        </p:nvSpPr>
        <p:spPr>
          <a:xfrm>
            <a:off x="7955280" y="3108960"/>
            <a:ext cx="3611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Bidders quietly disqualified for missing one document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7635240" y="3840480"/>
            <a:ext cx="164592" cy="164592"/>
          </a:xfrm>
          <a:prstGeom prst="ellipse">
            <a:avLst/>
          </a:prstGeom>
          <a:solidFill>
            <a:srgbClr val="FF4D6A"/>
          </a:solidFill>
          <a:ln/>
        </p:spPr>
      </p:sp>
      <p:sp>
        <p:nvSpPr>
          <p:cNvPr id="21" name="Text 19"/>
          <p:cNvSpPr/>
          <p:nvPr/>
        </p:nvSpPr>
        <p:spPr>
          <a:xfrm>
            <a:off x="7955280" y="3749040"/>
            <a:ext cx="3611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OCR figures misread → wrong rejection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7635240" y="4480560"/>
            <a:ext cx="164592" cy="164592"/>
          </a:xfrm>
          <a:prstGeom prst="ellipse">
            <a:avLst/>
          </a:prstGeom>
          <a:solidFill>
            <a:srgbClr val="FF4D6A"/>
          </a:solidFill>
          <a:ln/>
        </p:spPr>
      </p:sp>
      <p:sp>
        <p:nvSpPr>
          <p:cNvPr id="23" name="Text 21"/>
          <p:cNvSpPr/>
          <p:nvPr/>
        </p:nvSpPr>
        <p:spPr>
          <a:xfrm>
            <a:off x="7955280" y="4389120"/>
            <a:ext cx="3611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Cartel / coordinated bidding goes unnoticed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7635240" y="5120640"/>
            <a:ext cx="164592" cy="164592"/>
          </a:xfrm>
          <a:prstGeom prst="ellipse">
            <a:avLst/>
          </a:prstGeom>
          <a:solidFill>
            <a:srgbClr val="FF4D6A"/>
          </a:solidFill>
          <a:ln/>
        </p:spPr>
      </p:sp>
      <p:sp>
        <p:nvSpPr>
          <p:cNvPr id="25" name="Text 23"/>
          <p:cNvSpPr/>
          <p:nvPr/>
        </p:nvSpPr>
        <p:spPr>
          <a:xfrm>
            <a:off x="7955280" y="5029200"/>
            <a:ext cx="3611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Audit reconstruction takes weeks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10911535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2 / 17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E5A0"/>
          </a:solidFill>
          <a:ln/>
        </p:spPr>
      </p:sp>
      <p:sp>
        <p:nvSpPr>
          <p:cNvPr id="3" name="Shape 1"/>
          <p:cNvSpPr/>
          <p:nvPr/>
        </p:nvSpPr>
        <p:spPr>
          <a:xfrm>
            <a:off x="8534095" y="-1828800"/>
            <a:ext cx="5486400" cy="3657600"/>
          </a:xfrm>
          <a:prstGeom prst="ellipse">
            <a:avLst/>
          </a:prstGeom>
          <a:solidFill>
            <a:srgbClr val="00E5A0">
              <a:alpha val="8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-1828800" y="4114800"/>
            <a:ext cx="5486400" cy="3657600"/>
          </a:xfrm>
          <a:prstGeom prst="ellipse">
            <a:avLst/>
          </a:prstGeom>
          <a:solidFill>
            <a:srgbClr val="3D8BFD">
              <a:alpha val="8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0E5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THE SOLUTION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0080" y="77724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spc="-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TenderAI in one sentence.</a:t>
            </a:r>
            <a:endParaRPr lang="en-US" sz="3600" dirty="0"/>
          </a:p>
        </p:txBody>
      </p:sp>
      <p:sp>
        <p:nvSpPr>
          <p:cNvPr id="7" name="Shape 5"/>
          <p:cNvSpPr/>
          <p:nvPr/>
        </p:nvSpPr>
        <p:spPr>
          <a:xfrm>
            <a:off x="640080" y="1828800"/>
            <a:ext cx="10972800" cy="1828800"/>
          </a:xfrm>
          <a:prstGeom prst="roundRect">
            <a:avLst>
              <a:gd name="adj" fmla="val 8000"/>
            </a:avLst>
          </a:prstGeom>
          <a:solidFill>
            <a:srgbClr val="0F2845"/>
          </a:solidFill>
          <a:ln w="12700">
            <a:solidFill>
              <a:srgbClr val="1F3F7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1965960"/>
            <a:ext cx="1042416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00E5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 </a:t>
            </a:r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 two-portal web platform that takes a tender + a pile of bidder documents in any format and produces </a:t>
            </a:r>
            <a:pPr indent="0" marL="0">
              <a:buNone/>
            </a:pPr>
            <a:r>
              <a:rPr lang="en-US" sz="2200" b="1" dirty="0">
                <a:solidFill>
                  <a:srgbClr val="00E5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explainable</a:t>
            </a:r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, </a:t>
            </a:r>
            <a:pPr indent="0" marL="0">
              <a:buNone/>
            </a:pPr>
            <a:r>
              <a:rPr lang="en-US" sz="2200" b="1" dirty="0">
                <a:solidFill>
                  <a:srgbClr val="00E5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auditable</a:t>
            </a:r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, sign-off-ready verdicts in minutes. </a:t>
            </a:r>
            <a:pPr indent="0" marL="0">
              <a:buNone/>
            </a:pPr>
            <a:r>
              <a:rPr lang="en-US" sz="5200" b="1" dirty="0">
                <a:solidFill>
                  <a:srgbClr val="00E5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”</a:t>
            </a:r>
            <a:endParaRPr lang="en-US" sz="5200" dirty="0"/>
          </a:p>
        </p:txBody>
      </p:sp>
      <p:sp>
        <p:nvSpPr>
          <p:cNvPr id="9" name="Shape 7"/>
          <p:cNvSpPr/>
          <p:nvPr/>
        </p:nvSpPr>
        <p:spPr>
          <a:xfrm>
            <a:off x="640080" y="3931920"/>
            <a:ext cx="3520440" cy="2331720"/>
          </a:xfrm>
          <a:prstGeom prst="roundRect">
            <a:avLst>
              <a:gd name="adj" fmla="val 6275"/>
            </a:avLst>
          </a:prstGeom>
          <a:solidFill>
            <a:srgbClr val="0F2845"/>
          </a:solidFill>
          <a:ln w="12700">
            <a:solidFill>
              <a:srgbClr val="1F3F7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4160520"/>
            <a:ext cx="822960" cy="822960"/>
          </a:xfrm>
          <a:prstGeom prst="ellipse">
            <a:avLst/>
          </a:prstGeom>
          <a:solidFill>
            <a:srgbClr val="00E5A0"/>
          </a:solidFill>
          <a:ln/>
        </p:spPr>
      </p:sp>
      <p:sp>
        <p:nvSpPr>
          <p:cNvPr id="11" name="Text 9"/>
          <p:cNvSpPr/>
          <p:nvPr/>
        </p:nvSpPr>
        <p:spPr>
          <a:xfrm>
            <a:off x="914400" y="416052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52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🛡</a:t>
            </a:r>
            <a:endParaRPr lang="en-US" sz="2520" dirty="0"/>
          </a:p>
        </p:txBody>
      </p:sp>
      <p:sp>
        <p:nvSpPr>
          <p:cNvPr id="12" name="Text 10"/>
          <p:cNvSpPr/>
          <p:nvPr/>
        </p:nvSpPr>
        <p:spPr>
          <a:xfrm>
            <a:off x="1874520" y="425196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Explainable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914400" y="5120640"/>
            <a:ext cx="3108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A9AB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Every verdict cites criterion, document, page, value, reason and confidence.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361688" y="3931920"/>
            <a:ext cx="3520440" cy="2331720"/>
          </a:xfrm>
          <a:prstGeom prst="roundRect">
            <a:avLst>
              <a:gd name="adj" fmla="val 6275"/>
            </a:avLst>
          </a:prstGeom>
          <a:solidFill>
            <a:srgbClr val="0F2845"/>
          </a:solidFill>
          <a:ln w="12700">
            <a:solidFill>
              <a:srgbClr val="1F3F7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636008" y="4160520"/>
            <a:ext cx="822960" cy="822960"/>
          </a:xfrm>
          <a:prstGeom prst="ellipse">
            <a:avLst/>
          </a:prstGeom>
          <a:solidFill>
            <a:srgbClr val="00E5A0"/>
          </a:solidFill>
          <a:ln/>
        </p:spPr>
      </p:sp>
      <p:sp>
        <p:nvSpPr>
          <p:cNvPr id="16" name="Text 14"/>
          <p:cNvSpPr/>
          <p:nvPr/>
        </p:nvSpPr>
        <p:spPr>
          <a:xfrm>
            <a:off x="4636008" y="416052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52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📜</a:t>
            </a:r>
            <a:endParaRPr lang="en-US" sz="2520" dirty="0"/>
          </a:p>
        </p:txBody>
      </p:sp>
      <p:sp>
        <p:nvSpPr>
          <p:cNvPr id="17" name="Text 15"/>
          <p:cNvSpPr/>
          <p:nvPr/>
        </p:nvSpPr>
        <p:spPr>
          <a:xfrm>
            <a:off x="5596128" y="425196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Auditable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4636008" y="5120640"/>
            <a:ext cx="3108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A9AB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Append-only audit log of every automated decision and every human override.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8083296" y="3931920"/>
            <a:ext cx="3520440" cy="2331720"/>
          </a:xfrm>
          <a:prstGeom prst="roundRect">
            <a:avLst>
              <a:gd name="adj" fmla="val 6275"/>
            </a:avLst>
          </a:prstGeom>
          <a:solidFill>
            <a:srgbClr val="0F2845"/>
          </a:solidFill>
          <a:ln w="12700">
            <a:solidFill>
              <a:srgbClr val="1F3F7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357616" y="4160520"/>
            <a:ext cx="822960" cy="822960"/>
          </a:xfrm>
          <a:prstGeom prst="ellipse">
            <a:avLst/>
          </a:prstGeom>
          <a:solidFill>
            <a:srgbClr val="00E5A0"/>
          </a:solidFill>
          <a:ln/>
        </p:spPr>
      </p:sp>
      <p:sp>
        <p:nvSpPr>
          <p:cNvPr id="21" name="Text 19"/>
          <p:cNvSpPr/>
          <p:nvPr/>
        </p:nvSpPr>
        <p:spPr>
          <a:xfrm>
            <a:off x="8357616" y="416052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52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</a:t>
            </a:r>
            <a:endParaRPr lang="en-US" sz="2520" dirty="0"/>
          </a:p>
        </p:txBody>
      </p:sp>
      <p:sp>
        <p:nvSpPr>
          <p:cNvPr id="22" name="Text 20"/>
          <p:cNvSpPr/>
          <p:nvPr/>
        </p:nvSpPr>
        <p:spPr>
          <a:xfrm>
            <a:off x="9317736" y="425196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8357616" y="5120640"/>
            <a:ext cx="3108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A9AB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Multi-strategy OCR + deterministic engine. Hours of officer time → minutes.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10911535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AB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3 / 17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E5A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A1628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0E5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HOW IT WORKS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77724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spc="-100" kern="0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steps from a 200-page NIT to a signed report.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640080" y="2103120"/>
            <a:ext cx="2194560" cy="27432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224028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00A7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868680" y="2697480"/>
            <a:ext cx="640080" cy="45720"/>
          </a:xfrm>
          <a:prstGeom prst="rect">
            <a:avLst/>
          </a:prstGeom>
          <a:solidFill>
            <a:srgbClr val="00E5A0"/>
          </a:solidFill>
          <a:ln/>
        </p:spPr>
      </p:sp>
      <p:sp>
        <p:nvSpPr>
          <p:cNvPr id="9" name="Text 7"/>
          <p:cNvSpPr/>
          <p:nvPr/>
        </p:nvSpPr>
        <p:spPr>
          <a:xfrm>
            <a:off x="868680" y="2880360"/>
            <a:ext cx="173736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 tender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868680" y="3794760"/>
            <a:ext cx="173736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Admin drops the NIT PDF.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2788920" y="3291840"/>
            <a:ext cx="274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E5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2980944" y="2103120"/>
            <a:ext cx="2194560" cy="27432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209544" y="224028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00A7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3209544" y="2697480"/>
            <a:ext cx="640080" cy="45720"/>
          </a:xfrm>
          <a:prstGeom prst="rect">
            <a:avLst/>
          </a:prstGeom>
          <a:solidFill>
            <a:srgbClr val="00E5A0"/>
          </a:solidFill>
          <a:ln/>
        </p:spPr>
      </p:sp>
      <p:sp>
        <p:nvSpPr>
          <p:cNvPr id="15" name="Text 13"/>
          <p:cNvSpPr/>
          <p:nvPr/>
        </p:nvSpPr>
        <p:spPr>
          <a:xfrm>
            <a:off x="3209544" y="2880360"/>
            <a:ext cx="173736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extracts criteria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3209544" y="3794760"/>
            <a:ext cx="173736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Tech / financial / compliance — separated.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129784" y="3291840"/>
            <a:ext cx="274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E5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18" name="Shape 16"/>
          <p:cNvSpPr/>
          <p:nvPr/>
        </p:nvSpPr>
        <p:spPr>
          <a:xfrm>
            <a:off x="5321808" y="2103120"/>
            <a:ext cx="2194560" cy="27432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550408" y="224028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00A7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5550408" y="2697480"/>
            <a:ext cx="640080" cy="45720"/>
          </a:xfrm>
          <a:prstGeom prst="rect">
            <a:avLst/>
          </a:prstGeom>
          <a:solidFill>
            <a:srgbClr val="00E5A0"/>
          </a:solidFill>
          <a:ln/>
        </p:spPr>
      </p:sp>
      <p:sp>
        <p:nvSpPr>
          <p:cNvPr id="21" name="Text 19"/>
          <p:cNvSpPr/>
          <p:nvPr/>
        </p:nvSpPr>
        <p:spPr>
          <a:xfrm>
            <a:off x="5550408" y="2880360"/>
            <a:ext cx="173736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Bidders submit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5550408" y="3794760"/>
            <a:ext cx="173736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Vendors apply via the public Bidder Portal.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7470648" y="3291840"/>
            <a:ext cx="274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E5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24" name="Shape 22"/>
          <p:cNvSpPr/>
          <p:nvPr/>
        </p:nvSpPr>
        <p:spPr>
          <a:xfrm>
            <a:off x="7662672" y="2103120"/>
            <a:ext cx="2194560" cy="27432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891272" y="224028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00A7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7891272" y="2697480"/>
            <a:ext cx="640080" cy="45720"/>
          </a:xfrm>
          <a:prstGeom prst="rect">
            <a:avLst/>
          </a:prstGeom>
          <a:solidFill>
            <a:srgbClr val="00E5A0"/>
          </a:solidFill>
          <a:ln/>
        </p:spPr>
      </p:sp>
      <p:sp>
        <p:nvSpPr>
          <p:cNvPr id="27" name="Text 25"/>
          <p:cNvSpPr/>
          <p:nvPr/>
        </p:nvSpPr>
        <p:spPr>
          <a:xfrm>
            <a:off x="7891272" y="2880360"/>
            <a:ext cx="173736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Auto-evaluate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7891272" y="3794760"/>
            <a:ext cx="173736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Eligible · Not Eligible · Manual Review.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9811512" y="3291840"/>
            <a:ext cx="274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E5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30" name="Shape 28"/>
          <p:cNvSpPr/>
          <p:nvPr/>
        </p:nvSpPr>
        <p:spPr>
          <a:xfrm>
            <a:off x="10003536" y="2103120"/>
            <a:ext cx="2194560" cy="27432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0232136" y="224028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00A7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10232136" y="2697480"/>
            <a:ext cx="640080" cy="45720"/>
          </a:xfrm>
          <a:prstGeom prst="rect">
            <a:avLst/>
          </a:prstGeom>
          <a:solidFill>
            <a:srgbClr val="00E5A0"/>
          </a:solidFill>
          <a:ln/>
        </p:spPr>
      </p:sp>
      <p:sp>
        <p:nvSpPr>
          <p:cNvPr id="33" name="Text 31"/>
          <p:cNvSpPr/>
          <p:nvPr/>
        </p:nvSpPr>
        <p:spPr>
          <a:xfrm>
            <a:off x="10232136" y="2880360"/>
            <a:ext cx="173736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Sign-off report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10232136" y="3794760"/>
            <a:ext cx="173736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Exportable, audit-ready, criterion-by-criterion.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640080" y="5212080"/>
            <a:ext cx="10972800" cy="109728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22960" y="5349240"/>
            <a:ext cx="10607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🔐  Bidder Portal is fully public · Admin Dashboard is locked behind a single fixed account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822960" y="5779008"/>
            <a:ext cx="10607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475569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No paper trail loss · No silent rejections · No data leaves your container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10911535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4 / 17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E5A0"/>
          </a:solidFill>
          <a:ln/>
        </p:spPr>
      </p:sp>
      <p:sp>
        <p:nvSpPr>
          <p:cNvPr id="3" name="Shape 1"/>
          <p:cNvSpPr/>
          <p:nvPr/>
        </p:nvSpPr>
        <p:spPr>
          <a:xfrm>
            <a:off x="8534095" y="-1828800"/>
            <a:ext cx="5486400" cy="3657600"/>
          </a:xfrm>
          <a:prstGeom prst="ellipse">
            <a:avLst/>
          </a:prstGeom>
          <a:solidFill>
            <a:srgbClr val="00E5A0">
              <a:alpha val="8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-1828800" y="4114800"/>
            <a:ext cx="5486400" cy="3657600"/>
          </a:xfrm>
          <a:prstGeom prst="ellipse">
            <a:avLst/>
          </a:prstGeom>
          <a:solidFill>
            <a:srgbClr val="3D8BFD">
              <a:alpha val="8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0E5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TWO PORTALS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0080" y="77724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spc="-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platform. Two clearly-separated experiences.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640080" y="1828800"/>
            <a:ext cx="5486400" cy="4297680"/>
          </a:xfrm>
          <a:prstGeom prst="roundRect">
            <a:avLst>
              <a:gd name="adj" fmla="val 3404"/>
            </a:avLst>
          </a:prstGeom>
          <a:solidFill>
            <a:srgbClr val="0F2845"/>
          </a:solidFill>
          <a:ln w="12700">
            <a:solidFill>
              <a:srgbClr val="1F3F7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68680" y="2057400"/>
            <a:ext cx="914400" cy="914400"/>
          </a:xfrm>
          <a:prstGeom prst="ellipse">
            <a:avLst/>
          </a:prstGeom>
          <a:solidFill>
            <a:srgbClr val="00E5A0"/>
          </a:solidFill>
          <a:ln/>
        </p:spPr>
      </p:sp>
      <p:sp>
        <p:nvSpPr>
          <p:cNvPr id="9" name="Text 7"/>
          <p:cNvSpPr/>
          <p:nvPr/>
        </p:nvSpPr>
        <p:spPr>
          <a:xfrm>
            <a:off x="868680" y="205740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🏢</a:t>
            </a:r>
            <a:endParaRPr lang="en-US" sz="2800" dirty="0"/>
          </a:p>
        </p:txBody>
      </p:sp>
      <p:sp>
        <p:nvSpPr>
          <p:cNvPr id="10" name="Shape 8"/>
          <p:cNvSpPr/>
          <p:nvPr/>
        </p:nvSpPr>
        <p:spPr>
          <a:xfrm>
            <a:off x="4434840" y="2194560"/>
            <a:ext cx="1554480" cy="365760"/>
          </a:xfrm>
          <a:prstGeom prst="roundRect">
            <a:avLst>
              <a:gd name="adj" fmla="val 50000"/>
            </a:avLst>
          </a:prstGeom>
          <a:solidFill>
            <a:srgbClr val="003D2A"/>
          </a:solidFill>
          <a:ln w="9525">
            <a:solidFill>
              <a:srgbClr val="00E5A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34840" y="219456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00E5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· NO LOGIN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965960" y="219456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Bidder Portal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1965960" y="2606040"/>
            <a:ext cx="4023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8A9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Vendors &amp; Contractors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33832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E5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280160" y="338328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8ECF4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Browse open CRPF tenders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914400" y="393192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E5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280160" y="393192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8ECF4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Upload typed PDFs, scans, phone photos, DOCX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914400" y="448056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E5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280160" y="448056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8ECF4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No account, no password, no friction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914400" y="502920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E5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1280160" y="502920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8ECF4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Instant submission confirmation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914400" y="5623560"/>
            <a:ext cx="4297680" cy="365760"/>
          </a:xfrm>
          <a:prstGeom prst="roundRect">
            <a:avLst>
              <a:gd name="adj" fmla="val 50000"/>
            </a:avLst>
          </a:prstGeom>
          <a:solidFill>
            <a:srgbClr val="00E5A0"/>
          </a:solidFill>
          <a:ln/>
        </p:spPr>
      </p:sp>
      <p:sp>
        <p:nvSpPr>
          <p:cNvPr id="23" name="Text 21"/>
          <p:cNvSpPr/>
          <p:nvPr/>
        </p:nvSpPr>
        <p:spPr>
          <a:xfrm>
            <a:off x="914400" y="5623560"/>
            <a:ext cx="4297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 TO PORTAL  →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355080" y="1828800"/>
            <a:ext cx="5212080" cy="4297680"/>
          </a:xfrm>
          <a:prstGeom prst="roundRect">
            <a:avLst>
              <a:gd name="adj" fmla="val 3404"/>
            </a:avLst>
          </a:prstGeom>
          <a:solidFill>
            <a:srgbClr val="0F2845"/>
          </a:solidFill>
          <a:ln w="12700">
            <a:solidFill>
              <a:srgbClr val="1F3F7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2057400"/>
            <a:ext cx="914400" cy="914400"/>
          </a:xfrm>
          <a:prstGeom prst="ellipse">
            <a:avLst/>
          </a:prstGeom>
          <a:solidFill>
            <a:srgbClr val="3D8BFD"/>
          </a:solidFill>
          <a:ln/>
        </p:spPr>
      </p:sp>
      <p:sp>
        <p:nvSpPr>
          <p:cNvPr id="26" name="Text 24"/>
          <p:cNvSpPr/>
          <p:nvPr/>
        </p:nvSpPr>
        <p:spPr>
          <a:xfrm>
            <a:off x="6583680" y="205740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⚖</a:t>
            </a:r>
            <a:endParaRPr lang="en-US" sz="2800" dirty="0"/>
          </a:p>
        </p:txBody>
      </p:sp>
      <p:sp>
        <p:nvSpPr>
          <p:cNvPr id="27" name="Shape 25"/>
          <p:cNvSpPr/>
          <p:nvPr/>
        </p:nvSpPr>
        <p:spPr>
          <a:xfrm>
            <a:off x="9601200" y="2194560"/>
            <a:ext cx="1783080" cy="365760"/>
          </a:xfrm>
          <a:prstGeom prst="roundRect">
            <a:avLst>
              <a:gd name="adj" fmla="val 50000"/>
            </a:avLst>
          </a:prstGeom>
          <a:solidFill>
            <a:srgbClr val="12243F"/>
          </a:solidFill>
          <a:ln w="9525">
            <a:solidFill>
              <a:srgbClr val="3D8BFD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601200" y="2194560"/>
            <a:ext cx="1783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3D8B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🔒 RESTRICTED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7680960" y="219456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Dashboard</a:t>
            </a:r>
            <a:endParaRPr lang="en-US" sz="2200" dirty="0"/>
          </a:p>
        </p:txBody>
      </p:sp>
      <p:sp>
        <p:nvSpPr>
          <p:cNvPr id="30" name="Text 28"/>
          <p:cNvSpPr/>
          <p:nvPr/>
        </p:nvSpPr>
        <p:spPr>
          <a:xfrm>
            <a:off x="7680960" y="260604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8A9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the Evaluation Committee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6629400" y="33832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D8B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6995160" y="3383280"/>
            <a:ext cx="4434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8ECF4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AI-extracted, type-tagged criteria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6629400" y="393192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D8B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6995160" y="3931920"/>
            <a:ext cx="4434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8ECF4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Per-bidder explainable verdicts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6629400" y="448056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D8B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36" name="Text 34"/>
          <p:cNvSpPr/>
          <p:nvPr/>
        </p:nvSpPr>
        <p:spPr>
          <a:xfrm>
            <a:off x="6995160" y="4480560"/>
            <a:ext cx="4434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8ECF4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Manual-review queue with audit log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6629400" y="502920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D8B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38" name="Text 36"/>
          <p:cNvSpPr/>
          <p:nvPr/>
        </p:nvSpPr>
        <p:spPr>
          <a:xfrm>
            <a:off x="6995160" y="5029200"/>
            <a:ext cx="4434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8ECF4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JSON / PDF report export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6629400" y="5623560"/>
            <a:ext cx="4709160" cy="365760"/>
          </a:xfrm>
          <a:prstGeom prst="roundRect">
            <a:avLst>
              <a:gd name="adj" fmla="val 50000"/>
            </a:avLst>
          </a:prstGeom>
          <a:solidFill>
            <a:srgbClr val="12243F"/>
          </a:solidFill>
          <a:ln w="9525">
            <a:solidFill>
              <a:srgbClr val="3D8BFD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629400" y="5623560"/>
            <a:ext cx="4709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3D8B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🔐  admin / crpf@2025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10911535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AB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5 / 17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E5A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A1628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0E5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LIVE OPERATIONS CONSOLE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77724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spc="-100" kern="0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war-room dashboard that lights up as bids arrive.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2651760" cy="14630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1874520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0A7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3800" dirty="0"/>
          </a:p>
        </p:txBody>
      </p:sp>
      <p:sp>
        <p:nvSpPr>
          <p:cNvPr id="8" name="Text 6"/>
          <p:cNvSpPr/>
          <p:nvPr/>
        </p:nvSpPr>
        <p:spPr>
          <a:xfrm>
            <a:off x="868680" y="2542032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Tenders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868680" y="288036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AB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2 evaluated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474720" y="1783080"/>
            <a:ext cx="2651760" cy="14630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703320" y="1874520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0A7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3800" dirty="0"/>
          </a:p>
        </p:txBody>
      </p:sp>
      <p:sp>
        <p:nvSpPr>
          <p:cNvPr id="12" name="Text 10"/>
          <p:cNvSpPr/>
          <p:nvPr/>
        </p:nvSpPr>
        <p:spPr>
          <a:xfrm>
            <a:off x="3703320" y="2542032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Bidder Submissions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703320" y="288036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AB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across all tenders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806440" y="1993392"/>
            <a:ext cx="182880" cy="182880"/>
          </a:xfrm>
          <a:prstGeom prst="ellipse">
            <a:avLst/>
          </a:prstGeom>
          <a:solidFill>
            <a:srgbClr val="00E5A0"/>
          </a:solidFill>
          <a:ln/>
        </p:spPr>
      </p:sp>
      <p:sp>
        <p:nvSpPr>
          <p:cNvPr id="15" name="Shape 13"/>
          <p:cNvSpPr/>
          <p:nvPr/>
        </p:nvSpPr>
        <p:spPr>
          <a:xfrm>
            <a:off x="6309360" y="1783080"/>
            <a:ext cx="2651760" cy="14630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537960" y="1874520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0A7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3800" dirty="0"/>
          </a:p>
        </p:txBody>
      </p:sp>
      <p:sp>
        <p:nvSpPr>
          <p:cNvPr id="17" name="Text 15"/>
          <p:cNvSpPr/>
          <p:nvPr/>
        </p:nvSpPr>
        <p:spPr>
          <a:xfrm>
            <a:off x="6537960" y="2542032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Eligible Decisions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537960" y="288036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AB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3 need manual review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9144000" y="1783080"/>
            <a:ext cx="2651760" cy="14630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372600" y="1874520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0A7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3800" dirty="0"/>
          </a:p>
        </p:txBody>
      </p:sp>
      <p:sp>
        <p:nvSpPr>
          <p:cNvPr id="21" name="Text 19"/>
          <p:cNvSpPr/>
          <p:nvPr/>
        </p:nvSpPr>
        <p:spPr>
          <a:xfrm>
            <a:off x="9372600" y="2542032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Criteria Extracted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9372600" y="288036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AB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tech + financial + compliance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40080" y="3520440"/>
            <a:ext cx="5303520" cy="2697480"/>
          </a:xfrm>
          <a:prstGeom prst="roundRect">
            <a:avLst>
              <a:gd name="adj" fmla="val 5424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68680" y="36576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00A7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CRPF/MT/2025-26/004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868680" y="3931920"/>
            <a:ext cx="4206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Bullet Proof Vehicles — Phase III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4617720" y="3703320"/>
            <a:ext cx="1143000" cy="292608"/>
          </a:xfrm>
          <a:prstGeom prst="roundRect">
            <a:avLst>
              <a:gd name="adj" fmla="val 50000"/>
            </a:avLst>
          </a:prstGeom>
          <a:solidFill>
            <a:srgbClr val="F8FAFC"/>
          </a:solidFill>
          <a:ln w="9525">
            <a:solidFill>
              <a:srgbClr val="00E5A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617720" y="3703320"/>
            <a:ext cx="1143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00A7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 LIVE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868680" y="4526280"/>
            <a:ext cx="1188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2400" dirty="0"/>
          </a:p>
        </p:txBody>
      </p:sp>
      <p:sp>
        <p:nvSpPr>
          <p:cNvPr id="29" name="Text 27"/>
          <p:cNvSpPr/>
          <p:nvPr/>
        </p:nvSpPr>
        <p:spPr>
          <a:xfrm>
            <a:off x="868680" y="498348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8A9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criteria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2240280" y="4526280"/>
            <a:ext cx="1188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400" dirty="0"/>
          </a:p>
        </p:txBody>
      </p:sp>
      <p:sp>
        <p:nvSpPr>
          <p:cNvPr id="31" name="Text 29"/>
          <p:cNvSpPr/>
          <p:nvPr/>
        </p:nvSpPr>
        <p:spPr>
          <a:xfrm>
            <a:off x="2240280" y="498348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8A9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bidders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3611880" y="4526280"/>
            <a:ext cx="1188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60%</a:t>
            </a:r>
            <a:endParaRPr lang="en-US" sz="2400" dirty="0"/>
          </a:p>
        </p:txBody>
      </p:sp>
      <p:sp>
        <p:nvSpPr>
          <p:cNvPr id="33" name="Text 31"/>
          <p:cNvSpPr/>
          <p:nvPr/>
        </p:nvSpPr>
        <p:spPr>
          <a:xfrm>
            <a:off x="3611880" y="498348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8A9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 rate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868680" y="5440680"/>
            <a:ext cx="4846320" cy="164592"/>
          </a:xfrm>
          <a:prstGeom prst="roundRect">
            <a:avLst>
              <a:gd name="adj" fmla="val 50000"/>
            </a:avLst>
          </a:prstGeom>
          <a:solidFill>
            <a:srgbClr val="EAF1FF"/>
          </a:solidFill>
          <a:ln/>
        </p:spPr>
      </p:sp>
      <p:sp>
        <p:nvSpPr>
          <p:cNvPr id="35" name="Shape 33"/>
          <p:cNvSpPr/>
          <p:nvPr/>
        </p:nvSpPr>
        <p:spPr>
          <a:xfrm>
            <a:off x="868680" y="5440680"/>
            <a:ext cx="2926080" cy="164592"/>
          </a:xfrm>
          <a:prstGeom prst="roundRect">
            <a:avLst>
              <a:gd name="adj" fmla="val 50000"/>
            </a:avLst>
          </a:prstGeom>
          <a:solidFill>
            <a:srgbClr val="00E5A0"/>
          </a:solidFill>
          <a:ln/>
        </p:spPr>
      </p:sp>
      <p:sp>
        <p:nvSpPr>
          <p:cNvPr id="36" name="Shape 34"/>
          <p:cNvSpPr/>
          <p:nvPr/>
        </p:nvSpPr>
        <p:spPr>
          <a:xfrm>
            <a:off x="3794760" y="5440680"/>
            <a:ext cx="1097280" cy="164592"/>
          </a:xfrm>
          <a:prstGeom prst="roundRect">
            <a:avLst>
              <a:gd name="adj" fmla="val 50000"/>
            </a:avLst>
          </a:prstGeom>
          <a:solidFill>
            <a:srgbClr val="FFB74D"/>
          </a:solidFill>
          <a:ln/>
        </p:spPr>
      </p:sp>
      <p:sp>
        <p:nvSpPr>
          <p:cNvPr id="37" name="Shape 35"/>
          <p:cNvSpPr/>
          <p:nvPr/>
        </p:nvSpPr>
        <p:spPr>
          <a:xfrm>
            <a:off x="4892040" y="5440680"/>
            <a:ext cx="822960" cy="164592"/>
          </a:xfrm>
          <a:prstGeom prst="roundRect">
            <a:avLst>
              <a:gd name="adj" fmla="val 50000"/>
            </a:avLst>
          </a:prstGeom>
          <a:solidFill>
            <a:srgbClr val="FF4D6A"/>
          </a:solidFill>
          <a:ln/>
        </p:spPr>
      </p:sp>
      <p:sp>
        <p:nvSpPr>
          <p:cNvPr id="38" name="Text 36"/>
          <p:cNvSpPr/>
          <p:nvPr/>
        </p:nvSpPr>
        <p:spPr>
          <a:xfrm>
            <a:off x="868680" y="576072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A7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detail dashboard →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6263640" y="3520440"/>
            <a:ext cx="5303520" cy="2697480"/>
          </a:xfrm>
          <a:prstGeom prst="roundRect">
            <a:avLst>
              <a:gd name="adj" fmla="val 5424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492240" y="365760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into the dashboard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6537960" y="411480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6949440" y="411480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Live KPIs polling every 12 s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6537960" y="452628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📜</a:t>
            </a:r>
            <a:endParaRPr lang="en-US" sz="1400" dirty="0"/>
          </a:p>
        </p:txBody>
      </p:sp>
      <p:sp>
        <p:nvSpPr>
          <p:cNvPr id="44" name="Text 42"/>
          <p:cNvSpPr/>
          <p:nvPr/>
        </p:nvSpPr>
        <p:spPr>
          <a:xfrm>
            <a:off x="6949440" y="45262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System-wide audit timeline</a:t>
            </a:r>
            <a:endParaRPr lang="en-US" sz="1200" dirty="0"/>
          </a:p>
        </p:txBody>
      </p:sp>
      <p:sp>
        <p:nvSpPr>
          <p:cNvPr id="45" name="Text 43"/>
          <p:cNvSpPr/>
          <p:nvPr/>
        </p:nvSpPr>
        <p:spPr>
          <a:xfrm>
            <a:off x="6537960" y="493776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🪜</a:t>
            </a:r>
            <a:endParaRPr lang="en-US" sz="1400" dirty="0"/>
          </a:p>
        </p:txBody>
      </p:sp>
      <p:sp>
        <p:nvSpPr>
          <p:cNvPr id="46" name="Text 44"/>
          <p:cNvSpPr/>
          <p:nvPr/>
        </p:nvSpPr>
        <p:spPr>
          <a:xfrm>
            <a:off x="6949440" y="493776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Per-criterion eligibility funnel</a:t>
            </a:r>
            <a:endParaRPr lang="en-US" sz="1200" dirty="0"/>
          </a:p>
        </p:txBody>
      </p:sp>
      <p:sp>
        <p:nvSpPr>
          <p:cNvPr id="47" name="Text 45"/>
          <p:cNvSpPr/>
          <p:nvPr/>
        </p:nvSpPr>
        <p:spPr>
          <a:xfrm>
            <a:off x="6537960" y="53492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🛡</a:t>
            </a:r>
            <a:endParaRPr lang="en-US" sz="1400" dirty="0"/>
          </a:p>
        </p:txBody>
      </p:sp>
      <p:sp>
        <p:nvSpPr>
          <p:cNvPr id="48" name="Text 46"/>
          <p:cNvSpPr/>
          <p:nvPr/>
        </p:nvSpPr>
        <p:spPr>
          <a:xfrm>
            <a:off x="6949440" y="53492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AI Risk Radar (anomaly detection)</a:t>
            </a:r>
            <a:endParaRPr lang="en-US" sz="1200" dirty="0"/>
          </a:p>
        </p:txBody>
      </p:sp>
      <p:sp>
        <p:nvSpPr>
          <p:cNvPr id="49" name="Text 47"/>
          <p:cNvSpPr/>
          <p:nvPr/>
        </p:nvSpPr>
        <p:spPr>
          <a:xfrm>
            <a:off x="6537960" y="576072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🧮</a:t>
            </a:r>
            <a:endParaRPr lang="en-US" sz="1400" dirty="0"/>
          </a:p>
        </p:txBody>
      </p:sp>
      <p:sp>
        <p:nvSpPr>
          <p:cNvPr id="50" name="Text 48"/>
          <p:cNvSpPr/>
          <p:nvPr/>
        </p:nvSpPr>
        <p:spPr>
          <a:xfrm>
            <a:off x="6949440" y="576072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Bidder × criterion comparison matrix</a:t>
            </a:r>
            <a:endParaRPr lang="en-US" sz="1200" dirty="0"/>
          </a:p>
        </p:txBody>
      </p:sp>
      <p:sp>
        <p:nvSpPr>
          <p:cNvPr id="51" name="Text 49"/>
          <p:cNvSpPr/>
          <p:nvPr/>
        </p:nvSpPr>
        <p:spPr>
          <a:xfrm>
            <a:off x="10911535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6 / 17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E5A0"/>
          </a:solidFill>
          <a:ln/>
        </p:spPr>
      </p:sp>
      <p:sp>
        <p:nvSpPr>
          <p:cNvPr id="3" name="Shape 1"/>
          <p:cNvSpPr/>
          <p:nvPr/>
        </p:nvSpPr>
        <p:spPr>
          <a:xfrm>
            <a:off x="8534095" y="-1828800"/>
            <a:ext cx="5486400" cy="3657600"/>
          </a:xfrm>
          <a:prstGeom prst="ellipse">
            <a:avLst/>
          </a:prstGeom>
          <a:solidFill>
            <a:srgbClr val="00E5A0">
              <a:alpha val="8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-1828800" y="4114800"/>
            <a:ext cx="5486400" cy="3657600"/>
          </a:xfrm>
          <a:prstGeom prst="ellipse">
            <a:avLst/>
          </a:prstGeom>
          <a:solidFill>
            <a:srgbClr val="3D8BFD">
              <a:alpha val="8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0E5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THE AI PIPELINE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0080" y="77724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spc="-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raw PDF to signed verdict, in 13 deterministic steps.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640080" y="1828800"/>
            <a:ext cx="2606040" cy="1828800"/>
          </a:xfrm>
          <a:prstGeom prst="roundRect">
            <a:avLst>
              <a:gd name="adj" fmla="val 8000"/>
            </a:avLst>
          </a:prstGeom>
          <a:solidFill>
            <a:srgbClr val="0F2845"/>
          </a:solidFill>
          <a:ln w="12700">
            <a:solidFill>
              <a:srgbClr val="1F3F7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68680" y="2011680"/>
            <a:ext cx="822960" cy="822960"/>
          </a:xfrm>
          <a:prstGeom prst="ellipse">
            <a:avLst/>
          </a:prstGeom>
          <a:solidFill>
            <a:srgbClr val="00E5A0"/>
          </a:solidFill>
          <a:ln/>
        </p:spPr>
      </p:sp>
      <p:sp>
        <p:nvSpPr>
          <p:cNvPr id="9" name="Text 7"/>
          <p:cNvSpPr/>
          <p:nvPr/>
        </p:nvSpPr>
        <p:spPr>
          <a:xfrm>
            <a:off x="868680" y="201168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52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📄</a:t>
            </a:r>
            <a:endParaRPr lang="en-US" sz="2520" dirty="0"/>
          </a:p>
        </p:txBody>
      </p:sp>
      <p:sp>
        <p:nvSpPr>
          <p:cNvPr id="10" name="Text 8"/>
          <p:cNvSpPr/>
          <p:nvPr/>
        </p:nvSpPr>
        <p:spPr>
          <a:xfrm>
            <a:off x="1828800" y="210312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00E5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868680" y="2926080"/>
            <a:ext cx="22860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A9AB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PyMuPDF · Tesseract · DOCX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246120" y="260604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0E5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400" dirty="0"/>
          </a:p>
        </p:txBody>
      </p:sp>
      <p:sp>
        <p:nvSpPr>
          <p:cNvPr id="13" name="Shape 11"/>
          <p:cNvSpPr/>
          <p:nvPr/>
        </p:nvSpPr>
        <p:spPr>
          <a:xfrm>
            <a:off x="3529584" y="1828800"/>
            <a:ext cx="2606040" cy="1828800"/>
          </a:xfrm>
          <a:prstGeom prst="roundRect">
            <a:avLst>
              <a:gd name="adj" fmla="val 8000"/>
            </a:avLst>
          </a:prstGeom>
          <a:solidFill>
            <a:srgbClr val="0F2845"/>
          </a:solidFill>
          <a:ln w="12700">
            <a:solidFill>
              <a:srgbClr val="1F3F7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758184" y="2011680"/>
            <a:ext cx="822960" cy="822960"/>
          </a:xfrm>
          <a:prstGeom prst="ellipse">
            <a:avLst/>
          </a:prstGeom>
          <a:solidFill>
            <a:srgbClr val="3D8BFD"/>
          </a:solidFill>
          <a:ln/>
        </p:spPr>
      </p:sp>
      <p:sp>
        <p:nvSpPr>
          <p:cNvPr id="15" name="Text 13"/>
          <p:cNvSpPr/>
          <p:nvPr/>
        </p:nvSpPr>
        <p:spPr>
          <a:xfrm>
            <a:off x="3758184" y="201168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52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🔍</a:t>
            </a:r>
            <a:endParaRPr lang="en-US" sz="2520" dirty="0"/>
          </a:p>
        </p:txBody>
      </p:sp>
      <p:sp>
        <p:nvSpPr>
          <p:cNvPr id="16" name="Text 14"/>
          <p:cNvSpPr/>
          <p:nvPr/>
        </p:nvSpPr>
        <p:spPr>
          <a:xfrm>
            <a:off x="4718304" y="210312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3D8B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3758184" y="2926080"/>
            <a:ext cx="22860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A9AB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Regex + section detection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135624" y="260604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0E5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400" dirty="0"/>
          </a:p>
        </p:txBody>
      </p:sp>
      <p:sp>
        <p:nvSpPr>
          <p:cNvPr id="19" name="Shape 17"/>
          <p:cNvSpPr/>
          <p:nvPr/>
        </p:nvSpPr>
        <p:spPr>
          <a:xfrm>
            <a:off x="6419088" y="1828800"/>
            <a:ext cx="2606040" cy="1828800"/>
          </a:xfrm>
          <a:prstGeom prst="roundRect">
            <a:avLst>
              <a:gd name="adj" fmla="val 8000"/>
            </a:avLst>
          </a:prstGeom>
          <a:solidFill>
            <a:srgbClr val="0F2845"/>
          </a:solidFill>
          <a:ln w="12700">
            <a:solidFill>
              <a:srgbClr val="1F3F7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647688" y="2011680"/>
            <a:ext cx="822960" cy="822960"/>
          </a:xfrm>
          <a:prstGeom prst="ellipse">
            <a:avLst/>
          </a:prstGeom>
          <a:solidFill>
            <a:srgbClr val="FFB74D"/>
          </a:solidFill>
          <a:ln/>
        </p:spPr>
      </p:sp>
      <p:sp>
        <p:nvSpPr>
          <p:cNvPr id="21" name="Text 19"/>
          <p:cNvSpPr/>
          <p:nvPr/>
        </p:nvSpPr>
        <p:spPr>
          <a:xfrm>
            <a:off x="6647688" y="201168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52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⚖</a:t>
            </a:r>
            <a:endParaRPr lang="en-US" sz="2520" dirty="0"/>
          </a:p>
        </p:txBody>
      </p:sp>
      <p:sp>
        <p:nvSpPr>
          <p:cNvPr id="22" name="Text 20"/>
          <p:cNvSpPr/>
          <p:nvPr/>
        </p:nvSpPr>
        <p:spPr>
          <a:xfrm>
            <a:off x="7607808" y="210312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FFB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6647688" y="2926080"/>
            <a:ext cx="22860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A9AB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Financial · Technical · Compliance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9025128" y="260604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0E5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400" dirty="0"/>
          </a:p>
        </p:txBody>
      </p:sp>
      <p:sp>
        <p:nvSpPr>
          <p:cNvPr id="25" name="Shape 23"/>
          <p:cNvSpPr/>
          <p:nvPr/>
        </p:nvSpPr>
        <p:spPr>
          <a:xfrm>
            <a:off x="9308592" y="1828800"/>
            <a:ext cx="2606040" cy="1828800"/>
          </a:xfrm>
          <a:prstGeom prst="roundRect">
            <a:avLst>
              <a:gd name="adj" fmla="val 8000"/>
            </a:avLst>
          </a:prstGeom>
          <a:solidFill>
            <a:srgbClr val="0F2845"/>
          </a:solidFill>
          <a:ln w="12700">
            <a:solidFill>
              <a:srgbClr val="1F3F7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9537192" y="2011680"/>
            <a:ext cx="822960" cy="822960"/>
          </a:xfrm>
          <a:prstGeom prst="ellipse">
            <a:avLst/>
          </a:prstGeom>
          <a:solidFill>
            <a:srgbClr val="00A77B"/>
          </a:solidFill>
          <a:ln/>
        </p:spPr>
      </p:sp>
      <p:sp>
        <p:nvSpPr>
          <p:cNvPr id="27" name="Text 25"/>
          <p:cNvSpPr/>
          <p:nvPr/>
        </p:nvSpPr>
        <p:spPr>
          <a:xfrm>
            <a:off x="9537192" y="201168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52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📜</a:t>
            </a:r>
            <a:endParaRPr lang="en-US" sz="2520" dirty="0"/>
          </a:p>
        </p:txBody>
      </p:sp>
      <p:sp>
        <p:nvSpPr>
          <p:cNvPr id="28" name="Text 26"/>
          <p:cNvSpPr/>
          <p:nvPr/>
        </p:nvSpPr>
        <p:spPr>
          <a:xfrm>
            <a:off x="10497312" y="210312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00A7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9537192" y="2926080"/>
            <a:ext cx="22860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A9AB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Verdict + source + confidence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640080" y="4023360"/>
            <a:ext cx="10972800" cy="2377440"/>
          </a:xfrm>
          <a:prstGeom prst="roundRect">
            <a:avLst>
              <a:gd name="adj" fmla="val 6154"/>
            </a:avLst>
          </a:prstGeom>
          <a:solidFill>
            <a:srgbClr val="0F2845"/>
          </a:solidFill>
          <a:ln w="12700">
            <a:solidFill>
              <a:srgbClr val="1F3F7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14400" y="41605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00E5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Worked example · Minimum Annual Turnover criterion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914400" y="4572000"/>
            <a:ext cx="3108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8A9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Tender criterion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4114800" y="4572000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9AB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"Minimum annual turnover of Rs. 5 crore"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914400" y="4937760"/>
            <a:ext cx="3108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8A9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Parsed amount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4114800" y="4937760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ECF4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50,000,000 (Indian-system parser)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914400" y="5303520"/>
            <a:ext cx="3108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8A9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Bidder evidence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4114800" y="5303520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ECF4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"Annual Turnover (2024-25): Rs. 8.0 Crore" (financials.pdf p.2)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914400" y="5669280"/>
            <a:ext cx="3108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8A9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OCR · extraction · combined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4114800" y="5669280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ECF4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0.97  ·  0.92  →  0.94 confidence (high)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914400" y="6035040"/>
            <a:ext cx="3108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8A9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Verdict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4114800" y="6035040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E5A0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PASS — bidder value (₹8 cr) meets or exceeds requirement (₹5 cr)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10911535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AB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7 / 17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E5A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A1628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0E5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· EXPLAINABILITY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77724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spc="-100" kern="0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verdict carries its receipt.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640080" y="182880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120" kern="0" dirty="0">
                <a:solidFill>
                  <a:srgbClr val="00A7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lives inside one verdict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40080" y="2286000"/>
            <a:ext cx="5486400" cy="347472"/>
          </a:xfrm>
          <a:prstGeom prst="roundRect">
            <a:avLst>
              <a:gd name="adj" fmla="val 42105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7240" y="228600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Criterion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2606040" y="2286000"/>
            <a:ext cx="3383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Minimum Annual Turnover (₹5 crore)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40080" y="2697480"/>
            <a:ext cx="5486400" cy="347472"/>
          </a:xfrm>
          <a:prstGeom prst="roundRect">
            <a:avLst>
              <a:gd name="adj" fmla="val 42105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7240" y="269748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Bidder value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2606040" y="2697480"/>
            <a:ext cx="3383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₹8.0 Crore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40080" y="3108960"/>
            <a:ext cx="5486400" cy="347472"/>
          </a:xfrm>
          <a:prstGeom prst="roundRect">
            <a:avLst>
              <a:gd name="adj" fmla="val 42105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" y="310896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2606040" y="3108960"/>
            <a:ext cx="3383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PASS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40080" y="3520440"/>
            <a:ext cx="5486400" cy="347472"/>
          </a:xfrm>
          <a:prstGeom prst="roundRect">
            <a:avLst>
              <a:gd name="adj" fmla="val 42105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77240" y="352044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Reason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2606040" y="3520440"/>
            <a:ext cx="3383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Bidder value meets or exceeds requirement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40080" y="3931920"/>
            <a:ext cx="5486400" cy="347472"/>
          </a:xfrm>
          <a:prstGeom prst="roundRect">
            <a:avLst>
              <a:gd name="adj" fmla="val 42105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77240" y="39319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doc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2606040" y="3931920"/>
            <a:ext cx="3383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financials.pdf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40080" y="4343400"/>
            <a:ext cx="5486400" cy="347472"/>
          </a:xfrm>
          <a:prstGeom prst="roundRect">
            <a:avLst>
              <a:gd name="adj" fmla="val 42105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77240" y="434340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2606040" y="4343400"/>
            <a:ext cx="3383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2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640080" y="4754880"/>
            <a:ext cx="5486400" cy="347472"/>
          </a:xfrm>
          <a:prstGeom prst="roundRect">
            <a:avLst>
              <a:gd name="adj" fmla="val 42105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" y="475488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Confidence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2606040" y="4754880"/>
            <a:ext cx="3383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0.94 (high)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40080" y="5166360"/>
            <a:ext cx="5486400" cy="347472"/>
          </a:xfrm>
          <a:prstGeom prst="roundRect">
            <a:avLst>
              <a:gd name="adj" fmla="val 42105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77240" y="516636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Override?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2606040" y="5166360"/>
            <a:ext cx="3383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No (admin can override inline)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6400800" y="182880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120" kern="0" dirty="0">
                <a:solidFill>
                  <a:srgbClr val="00A7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promise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6400800" y="2286000"/>
            <a:ext cx="5212080" cy="685800"/>
          </a:xfrm>
          <a:prstGeom prst="roundRect">
            <a:avLst>
              <a:gd name="adj" fmla="val 21333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537960" y="2286000"/>
            <a:ext cx="4572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📌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7040880" y="2359152"/>
            <a:ext cx="4572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Criterion-level traceability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7040880" y="265176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No "rejected, no reason given" — the criterion is named.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6400800" y="3063240"/>
            <a:ext cx="5212080" cy="685800"/>
          </a:xfrm>
          <a:prstGeom prst="roundRect">
            <a:avLst>
              <a:gd name="adj" fmla="val 21333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537960" y="3063240"/>
            <a:ext cx="4572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📄</a:t>
            </a:r>
            <a:endParaRPr lang="en-US" sz="1800" dirty="0"/>
          </a:p>
        </p:txBody>
      </p:sp>
      <p:sp>
        <p:nvSpPr>
          <p:cNvPr id="38" name="Text 36"/>
          <p:cNvSpPr/>
          <p:nvPr/>
        </p:nvSpPr>
        <p:spPr>
          <a:xfrm>
            <a:off x="7040880" y="3136392"/>
            <a:ext cx="4572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Document-level citation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7040880" y="34290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Source filename + page number on every result.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6400800" y="3840480"/>
            <a:ext cx="5212080" cy="685800"/>
          </a:xfrm>
          <a:prstGeom prst="roundRect">
            <a:avLst>
              <a:gd name="adj" fmla="val 21333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537960" y="3840480"/>
            <a:ext cx="4572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</a:t>
            </a:r>
            <a:endParaRPr lang="en-US" sz="1800" dirty="0"/>
          </a:p>
        </p:txBody>
      </p:sp>
      <p:sp>
        <p:nvSpPr>
          <p:cNvPr id="42" name="Text 40"/>
          <p:cNvSpPr/>
          <p:nvPr/>
        </p:nvSpPr>
        <p:spPr>
          <a:xfrm>
            <a:off x="7040880" y="3913632"/>
            <a:ext cx="4572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silent rejections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7040880" y="420624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Ambiguous values automatically routed to NEED_REVIEW.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6400800" y="4617720"/>
            <a:ext cx="5212080" cy="685800"/>
          </a:xfrm>
          <a:prstGeom prst="roundRect">
            <a:avLst>
              <a:gd name="adj" fmla="val 21333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537960" y="4617720"/>
            <a:ext cx="4572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</a:t>
            </a:r>
            <a:endParaRPr lang="en-US" sz="1800" dirty="0"/>
          </a:p>
        </p:txBody>
      </p:sp>
      <p:sp>
        <p:nvSpPr>
          <p:cNvPr id="46" name="Text 44"/>
          <p:cNvSpPr/>
          <p:nvPr/>
        </p:nvSpPr>
        <p:spPr>
          <a:xfrm>
            <a:off x="7040880" y="4690872"/>
            <a:ext cx="4572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Human-in-the-loop</a:t>
            </a:r>
            <a:endParaRPr lang="en-US" sz="1200" dirty="0"/>
          </a:p>
        </p:txBody>
      </p:sp>
      <p:sp>
        <p:nvSpPr>
          <p:cNvPr id="47" name="Text 45"/>
          <p:cNvSpPr/>
          <p:nvPr/>
        </p:nvSpPr>
        <p:spPr>
          <a:xfrm>
            <a:off x="7040880" y="49834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Inline override with reason, captured to audit log.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6400800" y="5394960"/>
            <a:ext cx="5212080" cy="685800"/>
          </a:xfrm>
          <a:prstGeom prst="roundRect">
            <a:avLst>
              <a:gd name="adj" fmla="val 21333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537960" y="5394960"/>
            <a:ext cx="4572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📜</a:t>
            </a:r>
            <a:endParaRPr lang="en-US" sz="1800" dirty="0"/>
          </a:p>
        </p:txBody>
      </p:sp>
      <p:sp>
        <p:nvSpPr>
          <p:cNvPr id="50" name="Text 48"/>
          <p:cNvSpPr/>
          <p:nvPr/>
        </p:nvSpPr>
        <p:spPr>
          <a:xfrm>
            <a:off x="7040880" y="5468112"/>
            <a:ext cx="4572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Append-only audit log</a:t>
            </a:r>
            <a:endParaRPr lang="en-US" sz="1200" dirty="0"/>
          </a:p>
        </p:txBody>
      </p:sp>
      <p:sp>
        <p:nvSpPr>
          <p:cNvPr id="51" name="Text 49"/>
          <p:cNvSpPr/>
          <p:nvPr/>
        </p:nvSpPr>
        <p:spPr>
          <a:xfrm>
            <a:off x="7040880" y="57607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Immutable JSONL of every action — automated or human.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10911535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8 / 17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E5A0"/>
          </a:solidFill>
          <a:ln/>
        </p:spPr>
      </p:sp>
      <p:sp>
        <p:nvSpPr>
          <p:cNvPr id="3" name="Shape 1"/>
          <p:cNvSpPr/>
          <p:nvPr/>
        </p:nvSpPr>
        <p:spPr>
          <a:xfrm>
            <a:off x="8534095" y="-1828800"/>
            <a:ext cx="5486400" cy="3657600"/>
          </a:xfrm>
          <a:prstGeom prst="ellipse">
            <a:avLst/>
          </a:prstGeom>
          <a:solidFill>
            <a:srgbClr val="00E5A0">
              <a:alpha val="8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-1828800" y="4114800"/>
            <a:ext cx="5486400" cy="3657600"/>
          </a:xfrm>
          <a:prstGeom prst="ellipse">
            <a:avLst/>
          </a:prstGeom>
          <a:solidFill>
            <a:srgbClr val="3D8BFD">
              <a:alpha val="8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4D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· INNOVATION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0080" y="77724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spc="-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Risk Radar — beyond pass/fail.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640080" y="15544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8A9AB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Cross-bidder integrity checks that catch what manual review misses.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640080" y="2286000"/>
            <a:ext cx="3520440" cy="1828800"/>
          </a:xfrm>
          <a:prstGeom prst="roundRect">
            <a:avLst>
              <a:gd name="adj" fmla="val 8000"/>
            </a:avLst>
          </a:prstGeom>
          <a:solidFill>
            <a:srgbClr val="0F2845"/>
          </a:solidFill>
          <a:ln w="12700">
            <a:solidFill>
              <a:srgbClr val="FF4D6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68680" y="2468880"/>
            <a:ext cx="960120" cy="292608"/>
          </a:xfrm>
          <a:prstGeom prst="roundRect">
            <a:avLst>
              <a:gd name="adj" fmla="val 50000"/>
            </a:avLst>
          </a:prstGeom>
          <a:solidFill>
            <a:srgbClr val="12243F"/>
          </a:solidFill>
          <a:ln w="9525">
            <a:solidFill>
              <a:srgbClr val="FF4D6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468880"/>
            <a:ext cx="960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4D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520440" y="2450592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🚨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868680" y="292608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Cartel pattern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68680" y="3291840"/>
            <a:ext cx="310896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A9AB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Multiple bidders share a PAN prefix or address tokens — likely related entities.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361688" y="2286000"/>
            <a:ext cx="3520440" cy="1828800"/>
          </a:xfrm>
          <a:prstGeom prst="roundRect">
            <a:avLst>
              <a:gd name="adj" fmla="val 8000"/>
            </a:avLst>
          </a:prstGeom>
          <a:solidFill>
            <a:srgbClr val="0F2845"/>
          </a:solidFill>
          <a:ln w="12700">
            <a:solidFill>
              <a:srgbClr val="FF4D6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590288" y="2468880"/>
            <a:ext cx="960120" cy="292608"/>
          </a:xfrm>
          <a:prstGeom prst="roundRect">
            <a:avLst>
              <a:gd name="adj" fmla="val 50000"/>
            </a:avLst>
          </a:prstGeom>
          <a:solidFill>
            <a:srgbClr val="12243F"/>
          </a:solidFill>
          <a:ln w="9525">
            <a:solidFill>
              <a:srgbClr val="FF4D6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90288" y="2468880"/>
            <a:ext cx="960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4D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242048" y="2450592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🚨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4590288" y="292608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Coordinated bidding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590288" y="3291840"/>
            <a:ext cx="310896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A9AB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Two bidders' annual turnover figures within 0.5% of each other.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8083296" y="2286000"/>
            <a:ext cx="3520440" cy="1828800"/>
          </a:xfrm>
          <a:prstGeom prst="roundRect">
            <a:avLst>
              <a:gd name="adj" fmla="val 8000"/>
            </a:avLst>
          </a:prstGeom>
          <a:solidFill>
            <a:srgbClr val="0F2845"/>
          </a:solidFill>
          <a:ln w="12700">
            <a:solidFill>
              <a:srgbClr val="FFB74D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311896" y="2468880"/>
            <a:ext cx="960120" cy="292608"/>
          </a:xfrm>
          <a:prstGeom prst="roundRect">
            <a:avLst>
              <a:gd name="adj" fmla="val 50000"/>
            </a:avLst>
          </a:prstGeom>
          <a:solidFill>
            <a:srgbClr val="12243F"/>
          </a:solidFill>
          <a:ln w="9525">
            <a:solidFill>
              <a:srgbClr val="FFB74D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311896" y="2468880"/>
            <a:ext cx="960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B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0963656" y="2450592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8311896" y="292608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Low-confidence OCR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8311896" y="3291840"/>
            <a:ext cx="310896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A9AB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Extracted field at &lt;70% confidence — possible forgery / scan misread.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40080" y="4297680"/>
            <a:ext cx="3520440" cy="1828800"/>
          </a:xfrm>
          <a:prstGeom prst="roundRect">
            <a:avLst>
              <a:gd name="adj" fmla="val 8000"/>
            </a:avLst>
          </a:prstGeom>
          <a:solidFill>
            <a:srgbClr val="0F2845"/>
          </a:solidFill>
          <a:ln w="12700">
            <a:solidFill>
              <a:srgbClr val="FFB74D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68680" y="4480560"/>
            <a:ext cx="960120" cy="292608"/>
          </a:xfrm>
          <a:prstGeom prst="roundRect">
            <a:avLst>
              <a:gd name="adj" fmla="val 50000"/>
            </a:avLst>
          </a:prstGeom>
          <a:solidFill>
            <a:srgbClr val="12243F"/>
          </a:solidFill>
          <a:ln w="9525">
            <a:solidFill>
              <a:srgbClr val="FFB74D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68680" y="4480560"/>
            <a:ext cx="960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B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3520440" y="4462272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868680" y="493776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Missing mandatory data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868680" y="5303520"/>
            <a:ext cx="310896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A9AB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No extracted value for a mandatory criterion.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4361688" y="4297680"/>
            <a:ext cx="3520440" cy="1828800"/>
          </a:xfrm>
          <a:prstGeom prst="roundRect">
            <a:avLst>
              <a:gd name="adj" fmla="val 8000"/>
            </a:avLst>
          </a:prstGeom>
          <a:solidFill>
            <a:srgbClr val="0F2845"/>
          </a:solidFill>
          <a:ln w="12700">
            <a:solidFill>
              <a:srgbClr val="FF4D6A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590288" y="4480560"/>
            <a:ext cx="960120" cy="292608"/>
          </a:xfrm>
          <a:prstGeom prst="roundRect">
            <a:avLst>
              <a:gd name="adj" fmla="val 50000"/>
            </a:avLst>
          </a:prstGeom>
          <a:solidFill>
            <a:srgbClr val="12243F"/>
          </a:solidFill>
          <a:ln w="9525">
            <a:solidFill>
              <a:srgbClr val="FF4D6A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590288" y="4480560"/>
            <a:ext cx="960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4D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7242048" y="4462272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🚨</a:t>
            </a:r>
            <a:endParaRPr lang="en-US" sz="1800" dirty="0"/>
          </a:p>
        </p:txBody>
      </p:sp>
      <p:sp>
        <p:nvSpPr>
          <p:cNvPr id="36" name="Text 34"/>
          <p:cNvSpPr/>
          <p:nvPr/>
        </p:nvSpPr>
        <p:spPr>
          <a:xfrm>
            <a:off x="4590288" y="493776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Duplicate documents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4590288" y="5303520"/>
            <a:ext cx="310896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A9AB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Identical filename submitted by more than one bidder.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8092440" y="4297680"/>
            <a:ext cx="3520440" cy="1828800"/>
          </a:xfrm>
          <a:prstGeom prst="roundRect">
            <a:avLst>
              <a:gd name="adj" fmla="val 8000"/>
            </a:avLst>
          </a:prstGeom>
          <a:solidFill>
            <a:srgbClr val="0F2845"/>
          </a:solidFill>
          <a:ln w="12700">
            <a:solidFill>
              <a:srgbClr val="00E5A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8229600" y="443484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00E5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 frontend-derived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8229600" y="4800600"/>
            <a:ext cx="329184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8ECF4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Runs over already-extracted data — no extra LLM calls, no extra latency, no extra cost.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10911535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AB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9 / 17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E5A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A1628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0E5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· VISUALIZATIONS OFFICERS ACTUALLY NEED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77724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spc="-100" kern="0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procurement officers actually compare bids.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5852160" cy="4480560"/>
          </a:xfrm>
          <a:prstGeom prst="roundRect">
            <a:avLst>
              <a:gd name="adj" fmla="val 3265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187452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Comparison Matrix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68680" y="228600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475569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Rows = bidders · Columns = criteria · Cells = pass/fail/review + value + confidence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868680" y="2743200"/>
            <a:ext cx="1051560" cy="365760"/>
          </a:xfrm>
          <a:prstGeom prst="rect">
            <a:avLst/>
          </a:prstGeom>
          <a:solidFill>
            <a:srgbClr val="0A1628"/>
          </a:solidFill>
          <a:ln/>
        </p:spPr>
      </p:sp>
      <p:sp>
        <p:nvSpPr>
          <p:cNvPr id="10" name="Text 8"/>
          <p:cNvSpPr/>
          <p:nvPr/>
        </p:nvSpPr>
        <p:spPr>
          <a:xfrm>
            <a:off x="868680" y="2743200"/>
            <a:ext cx="1051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Bidder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1947672" y="2743200"/>
            <a:ext cx="1051560" cy="365760"/>
          </a:xfrm>
          <a:prstGeom prst="rect">
            <a:avLst/>
          </a:prstGeom>
          <a:solidFill>
            <a:srgbClr val="0A1628"/>
          </a:solidFill>
          <a:ln/>
        </p:spPr>
      </p:sp>
      <p:sp>
        <p:nvSpPr>
          <p:cNvPr id="12" name="Text 10"/>
          <p:cNvSpPr/>
          <p:nvPr/>
        </p:nvSpPr>
        <p:spPr>
          <a:xfrm>
            <a:off x="1947672" y="2743200"/>
            <a:ext cx="1051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Turnover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026664" y="2743200"/>
            <a:ext cx="1051560" cy="365760"/>
          </a:xfrm>
          <a:prstGeom prst="rect">
            <a:avLst/>
          </a:prstGeom>
          <a:solidFill>
            <a:srgbClr val="0A1628"/>
          </a:solidFill>
          <a:ln/>
        </p:spPr>
      </p:sp>
      <p:sp>
        <p:nvSpPr>
          <p:cNvPr id="14" name="Text 12"/>
          <p:cNvSpPr/>
          <p:nvPr/>
        </p:nvSpPr>
        <p:spPr>
          <a:xfrm>
            <a:off x="3026664" y="2743200"/>
            <a:ext cx="1051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105656" y="2743200"/>
            <a:ext cx="1051560" cy="365760"/>
          </a:xfrm>
          <a:prstGeom prst="rect">
            <a:avLst/>
          </a:prstGeom>
          <a:solidFill>
            <a:srgbClr val="0A1628"/>
          </a:solidFill>
          <a:ln/>
        </p:spPr>
      </p:sp>
      <p:sp>
        <p:nvSpPr>
          <p:cNvPr id="16" name="Text 14"/>
          <p:cNvSpPr/>
          <p:nvPr/>
        </p:nvSpPr>
        <p:spPr>
          <a:xfrm>
            <a:off x="4105656" y="2743200"/>
            <a:ext cx="1051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GST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184648" y="2743200"/>
            <a:ext cx="1051560" cy="365760"/>
          </a:xfrm>
          <a:prstGeom prst="rect">
            <a:avLst/>
          </a:prstGeom>
          <a:solidFill>
            <a:srgbClr val="0A1628"/>
          </a:solidFill>
          <a:ln/>
        </p:spPr>
      </p:sp>
      <p:sp>
        <p:nvSpPr>
          <p:cNvPr id="18" name="Text 16"/>
          <p:cNvSpPr/>
          <p:nvPr/>
        </p:nvSpPr>
        <p:spPr>
          <a:xfrm>
            <a:off x="5184648" y="2743200"/>
            <a:ext cx="1051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868680" y="3154680"/>
            <a:ext cx="1051560" cy="731520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14400" y="3154680"/>
            <a:ext cx="960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TechVision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947672" y="3154680"/>
            <a:ext cx="1051560" cy="73152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039112" y="3246120"/>
            <a:ext cx="868680" cy="365760"/>
          </a:xfrm>
          <a:prstGeom prst="roundRect">
            <a:avLst>
              <a:gd name="adj" fmla="val 15000"/>
            </a:avLst>
          </a:prstGeom>
          <a:solidFill>
            <a:srgbClr val="D1FAE5"/>
          </a:solidFill>
          <a:ln/>
        </p:spPr>
      </p:sp>
      <p:sp>
        <p:nvSpPr>
          <p:cNvPr id="23" name="Text 21"/>
          <p:cNvSpPr/>
          <p:nvPr/>
        </p:nvSpPr>
        <p:spPr>
          <a:xfrm>
            <a:off x="2039112" y="3246120"/>
            <a:ext cx="868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478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2039112" y="3611880"/>
            <a:ext cx="8686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9AB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pass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3026664" y="3154680"/>
            <a:ext cx="1051560" cy="73152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118104" y="3246120"/>
            <a:ext cx="868680" cy="365760"/>
          </a:xfrm>
          <a:prstGeom prst="roundRect">
            <a:avLst>
              <a:gd name="adj" fmla="val 15000"/>
            </a:avLst>
          </a:prstGeom>
          <a:solidFill>
            <a:srgbClr val="D1FAE5"/>
          </a:solidFill>
          <a:ln/>
        </p:spPr>
      </p:sp>
      <p:sp>
        <p:nvSpPr>
          <p:cNvPr id="27" name="Text 25"/>
          <p:cNvSpPr/>
          <p:nvPr/>
        </p:nvSpPr>
        <p:spPr>
          <a:xfrm>
            <a:off x="3118104" y="3246120"/>
            <a:ext cx="868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478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3118104" y="3611880"/>
            <a:ext cx="8686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9AB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pass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4105656" y="3154680"/>
            <a:ext cx="1051560" cy="73152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197096" y="3246120"/>
            <a:ext cx="868680" cy="365760"/>
          </a:xfrm>
          <a:prstGeom prst="roundRect">
            <a:avLst>
              <a:gd name="adj" fmla="val 15000"/>
            </a:avLst>
          </a:prstGeom>
          <a:solidFill>
            <a:srgbClr val="D1FAE5"/>
          </a:solidFill>
          <a:ln/>
        </p:spPr>
      </p:sp>
      <p:sp>
        <p:nvSpPr>
          <p:cNvPr id="31" name="Text 29"/>
          <p:cNvSpPr/>
          <p:nvPr/>
        </p:nvSpPr>
        <p:spPr>
          <a:xfrm>
            <a:off x="4197096" y="3246120"/>
            <a:ext cx="868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478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4197096" y="3611880"/>
            <a:ext cx="8686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9AB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pass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5184648" y="3154680"/>
            <a:ext cx="1051560" cy="73152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276088" y="3246120"/>
            <a:ext cx="868680" cy="365760"/>
          </a:xfrm>
          <a:prstGeom prst="roundRect">
            <a:avLst>
              <a:gd name="adj" fmla="val 15000"/>
            </a:avLst>
          </a:prstGeom>
          <a:solidFill>
            <a:srgbClr val="D1FAE5"/>
          </a:solidFill>
          <a:ln/>
        </p:spPr>
      </p:sp>
      <p:sp>
        <p:nvSpPr>
          <p:cNvPr id="35" name="Text 33"/>
          <p:cNvSpPr/>
          <p:nvPr/>
        </p:nvSpPr>
        <p:spPr>
          <a:xfrm>
            <a:off x="5276088" y="3246120"/>
            <a:ext cx="868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478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36" name="Text 34"/>
          <p:cNvSpPr/>
          <p:nvPr/>
        </p:nvSpPr>
        <p:spPr>
          <a:xfrm>
            <a:off x="5276088" y="3611880"/>
            <a:ext cx="8686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9AB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pass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868680" y="3931920"/>
            <a:ext cx="1051560" cy="731520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914400" y="3931920"/>
            <a:ext cx="960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SecureNet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1947672" y="3931920"/>
            <a:ext cx="1051560" cy="73152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039112" y="4023360"/>
            <a:ext cx="868680" cy="365760"/>
          </a:xfrm>
          <a:prstGeom prst="roundRect">
            <a:avLst>
              <a:gd name="adj" fmla="val 15000"/>
            </a:avLst>
          </a:prstGeom>
          <a:solidFill>
            <a:srgbClr val="D1FAE5"/>
          </a:solidFill>
          <a:ln/>
        </p:spPr>
      </p:sp>
      <p:sp>
        <p:nvSpPr>
          <p:cNvPr id="41" name="Text 39"/>
          <p:cNvSpPr/>
          <p:nvPr/>
        </p:nvSpPr>
        <p:spPr>
          <a:xfrm>
            <a:off x="2039112" y="4023360"/>
            <a:ext cx="868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478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42" name="Text 40"/>
          <p:cNvSpPr/>
          <p:nvPr/>
        </p:nvSpPr>
        <p:spPr>
          <a:xfrm>
            <a:off x="2039112" y="4389120"/>
            <a:ext cx="8686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9AB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pass</a:t>
            </a:r>
            <a:endParaRPr lang="en-US" sz="800" dirty="0"/>
          </a:p>
        </p:txBody>
      </p:sp>
      <p:sp>
        <p:nvSpPr>
          <p:cNvPr id="43" name="Shape 41"/>
          <p:cNvSpPr/>
          <p:nvPr/>
        </p:nvSpPr>
        <p:spPr>
          <a:xfrm>
            <a:off x="3026664" y="3931920"/>
            <a:ext cx="1051560" cy="73152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3118104" y="4023360"/>
            <a:ext cx="868680" cy="365760"/>
          </a:xfrm>
          <a:prstGeom prst="roundRect">
            <a:avLst>
              <a:gd name="adj" fmla="val 15000"/>
            </a:avLst>
          </a:prstGeom>
          <a:solidFill>
            <a:srgbClr val="D1FAE5"/>
          </a:solidFill>
          <a:ln/>
        </p:spPr>
      </p:sp>
      <p:sp>
        <p:nvSpPr>
          <p:cNvPr id="45" name="Text 43"/>
          <p:cNvSpPr/>
          <p:nvPr/>
        </p:nvSpPr>
        <p:spPr>
          <a:xfrm>
            <a:off x="3118104" y="4023360"/>
            <a:ext cx="868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478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46" name="Text 44"/>
          <p:cNvSpPr/>
          <p:nvPr/>
        </p:nvSpPr>
        <p:spPr>
          <a:xfrm>
            <a:off x="3118104" y="4389120"/>
            <a:ext cx="8686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9AB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pass</a:t>
            </a:r>
            <a:endParaRPr lang="en-US" sz="800" dirty="0"/>
          </a:p>
        </p:txBody>
      </p:sp>
      <p:sp>
        <p:nvSpPr>
          <p:cNvPr id="47" name="Shape 45"/>
          <p:cNvSpPr/>
          <p:nvPr/>
        </p:nvSpPr>
        <p:spPr>
          <a:xfrm>
            <a:off x="4105656" y="3931920"/>
            <a:ext cx="1051560" cy="73152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4197096" y="4023360"/>
            <a:ext cx="868680" cy="365760"/>
          </a:xfrm>
          <a:prstGeom prst="roundRect">
            <a:avLst>
              <a:gd name="adj" fmla="val 15000"/>
            </a:avLst>
          </a:prstGeom>
          <a:solidFill>
            <a:srgbClr val="D1FAE5"/>
          </a:solidFill>
          <a:ln/>
        </p:spPr>
      </p:sp>
      <p:sp>
        <p:nvSpPr>
          <p:cNvPr id="49" name="Text 47"/>
          <p:cNvSpPr/>
          <p:nvPr/>
        </p:nvSpPr>
        <p:spPr>
          <a:xfrm>
            <a:off x="4197096" y="4023360"/>
            <a:ext cx="868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478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50" name="Text 48"/>
          <p:cNvSpPr/>
          <p:nvPr/>
        </p:nvSpPr>
        <p:spPr>
          <a:xfrm>
            <a:off x="4197096" y="4389120"/>
            <a:ext cx="8686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9AB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pass</a:t>
            </a:r>
            <a:endParaRPr lang="en-US" sz="800" dirty="0"/>
          </a:p>
        </p:txBody>
      </p:sp>
      <p:sp>
        <p:nvSpPr>
          <p:cNvPr id="51" name="Shape 49"/>
          <p:cNvSpPr/>
          <p:nvPr/>
        </p:nvSpPr>
        <p:spPr>
          <a:xfrm>
            <a:off x="5184648" y="3931920"/>
            <a:ext cx="1051560" cy="73152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5276088" y="4023360"/>
            <a:ext cx="868680" cy="365760"/>
          </a:xfrm>
          <a:prstGeom prst="roundRect">
            <a:avLst>
              <a:gd name="adj" fmla="val 15000"/>
            </a:avLst>
          </a:prstGeom>
          <a:solidFill>
            <a:srgbClr val="FEF3C7"/>
          </a:solidFill>
          <a:ln/>
        </p:spPr>
      </p:sp>
      <p:sp>
        <p:nvSpPr>
          <p:cNvPr id="53" name="Text 51"/>
          <p:cNvSpPr/>
          <p:nvPr/>
        </p:nvSpPr>
        <p:spPr>
          <a:xfrm>
            <a:off x="5276088" y="4023360"/>
            <a:ext cx="868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1600" dirty="0"/>
          </a:p>
        </p:txBody>
      </p:sp>
      <p:sp>
        <p:nvSpPr>
          <p:cNvPr id="54" name="Text 52"/>
          <p:cNvSpPr/>
          <p:nvPr/>
        </p:nvSpPr>
        <p:spPr>
          <a:xfrm>
            <a:off x="5276088" y="4389120"/>
            <a:ext cx="8686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9AB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review</a:t>
            </a:r>
            <a:endParaRPr lang="en-US" sz="800" dirty="0"/>
          </a:p>
        </p:txBody>
      </p:sp>
      <p:sp>
        <p:nvSpPr>
          <p:cNvPr id="55" name="Shape 53"/>
          <p:cNvSpPr/>
          <p:nvPr/>
        </p:nvSpPr>
        <p:spPr>
          <a:xfrm>
            <a:off x="868680" y="4709160"/>
            <a:ext cx="1051560" cy="731520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914400" y="4709160"/>
            <a:ext cx="960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Bharat Infra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1947672" y="4709160"/>
            <a:ext cx="1051560" cy="73152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2039112" y="4800600"/>
            <a:ext cx="868680" cy="365760"/>
          </a:xfrm>
          <a:prstGeom prst="roundRect">
            <a:avLst>
              <a:gd name="adj" fmla="val 15000"/>
            </a:avLst>
          </a:prstGeom>
          <a:solidFill>
            <a:srgbClr val="FEE2E2"/>
          </a:solidFill>
          <a:ln/>
        </p:spPr>
      </p:sp>
      <p:sp>
        <p:nvSpPr>
          <p:cNvPr id="59" name="Text 57"/>
          <p:cNvSpPr/>
          <p:nvPr/>
        </p:nvSpPr>
        <p:spPr>
          <a:xfrm>
            <a:off x="2039112" y="4800600"/>
            <a:ext cx="868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600" dirty="0"/>
          </a:p>
        </p:txBody>
      </p:sp>
      <p:sp>
        <p:nvSpPr>
          <p:cNvPr id="60" name="Text 58"/>
          <p:cNvSpPr/>
          <p:nvPr/>
        </p:nvSpPr>
        <p:spPr>
          <a:xfrm>
            <a:off x="2039112" y="5166360"/>
            <a:ext cx="8686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9AB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fail</a:t>
            </a:r>
            <a:endParaRPr lang="en-US" sz="800" dirty="0"/>
          </a:p>
        </p:txBody>
      </p:sp>
      <p:sp>
        <p:nvSpPr>
          <p:cNvPr id="61" name="Shape 59"/>
          <p:cNvSpPr/>
          <p:nvPr/>
        </p:nvSpPr>
        <p:spPr>
          <a:xfrm>
            <a:off x="3026664" y="4709160"/>
            <a:ext cx="1051560" cy="73152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3118104" y="4800600"/>
            <a:ext cx="868680" cy="365760"/>
          </a:xfrm>
          <a:prstGeom prst="roundRect">
            <a:avLst>
              <a:gd name="adj" fmla="val 15000"/>
            </a:avLst>
          </a:prstGeom>
          <a:solidFill>
            <a:srgbClr val="FEE2E2"/>
          </a:solidFill>
          <a:ln/>
        </p:spPr>
      </p:sp>
      <p:sp>
        <p:nvSpPr>
          <p:cNvPr id="63" name="Text 61"/>
          <p:cNvSpPr/>
          <p:nvPr/>
        </p:nvSpPr>
        <p:spPr>
          <a:xfrm>
            <a:off x="3118104" y="4800600"/>
            <a:ext cx="868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600" dirty="0"/>
          </a:p>
        </p:txBody>
      </p:sp>
      <p:sp>
        <p:nvSpPr>
          <p:cNvPr id="64" name="Text 62"/>
          <p:cNvSpPr/>
          <p:nvPr/>
        </p:nvSpPr>
        <p:spPr>
          <a:xfrm>
            <a:off x="3118104" y="5166360"/>
            <a:ext cx="8686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9AB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fail</a:t>
            </a:r>
            <a:endParaRPr lang="en-US" sz="800" dirty="0"/>
          </a:p>
        </p:txBody>
      </p:sp>
      <p:sp>
        <p:nvSpPr>
          <p:cNvPr id="65" name="Shape 63"/>
          <p:cNvSpPr/>
          <p:nvPr/>
        </p:nvSpPr>
        <p:spPr>
          <a:xfrm>
            <a:off x="4105656" y="4709160"/>
            <a:ext cx="1051560" cy="73152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4197096" y="4800600"/>
            <a:ext cx="868680" cy="365760"/>
          </a:xfrm>
          <a:prstGeom prst="roundRect">
            <a:avLst>
              <a:gd name="adj" fmla="val 15000"/>
            </a:avLst>
          </a:prstGeom>
          <a:solidFill>
            <a:srgbClr val="D1FAE5"/>
          </a:solidFill>
          <a:ln/>
        </p:spPr>
      </p:sp>
      <p:sp>
        <p:nvSpPr>
          <p:cNvPr id="67" name="Text 65"/>
          <p:cNvSpPr/>
          <p:nvPr/>
        </p:nvSpPr>
        <p:spPr>
          <a:xfrm>
            <a:off x="4197096" y="4800600"/>
            <a:ext cx="868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478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68" name="Text 66"/>
          <p:cNvSpPr/>
          <p:nvPr/>
        </p:nvSpPr>
        <p:spPr>
          <a:xfrm>
            <a:off x="4197096" y="5166360"/>
            <a:ext cx="8686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9AB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pass</a:t>
            </a:r>
            <a:endParaRPr lang="en-US" sz="800" dirty="0"/>
          </a:p>
        </p:txBody>
      </p:sp>
      <p:sp>
        <p:nvSpPr>
          <p:cNvPr id="69" name="Shape 67"/>
          <p:cNvSpPr/>
          <p:nvPr/>
        </p:nvSpPr>
        <p:spPr>
          <a:xfrm>
            <a:off x="5184648" y="4709160"/>
            <a:ext cx="1051560" cy="73152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5276088" y="4800600"/>
            <a:ext cx="868680" cy="365760"/>
          </a:xfrm>
          <a:prstGeom prst="roundRect">
            <a:avLst>
              <a:gd name="adj" fmla="val 15000"/>
            </a:avLst>
          </a:prstGeom>
          <a:solidFill>
            <a:srgbClr val="FEE2E2"/>
          </a:solidFill>
          <a:ln/>
        </p:spPr>
      </p:sp>
      <p:sp>
        <p:nvSpPr>
          <p:cNvPr id="71" name="Text 69"/>
          <p:cNvSpPr/>
          <p:nvPr/>
        </p:nvSpPr>
        <p:spPr>
          <a:xfrm>
            <a:off x="5276088" y="4800600"/>
            <a:ext cx="868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600" dirty="0"/>
          </a:p>
        </p:txBody>
      </p:sp>
      <p:sp>
        <p:nvSpPr>
          <p:cNvPr id="72" name="Text 70"/>
          <p:cNvSpPr/>
          <p:nvPr/>
        </p:nvSpPr>
        <p:spPr>
          <a:xfrm>
            <a:off x="5276088" y="5166360"/>
            <a:ext cx="8686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9AB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fail</a:t>
            </a:r>
            <a:endParaRPr lang="en-US" sz="800" dirty="0"/>
          </a:p>
        </p:txBody>
      </p:sp>
      <p:sp>
        <p:nvSpPr>
          <p:cNvPr id="73" name="Shape 71"/>
          <p:cNvSpPr/>
          <p:nvPr/>
        </p:nvSpPr>
        <p:spPr>
          <a:xfrm>
            <a:off x="6675120" y="1783080"/>
            <a:ext cx="4937760" cy="4480560"/>
          </a:xfrm>
          <a:prstGeom prst="roundRect">
            <a:avLst>
              <a:gd name="adj" fmla="val 3265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6903720" y="187452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Eligibility Funnel</a:t>
            </a:r>
            <a:endParaRPr lang="en-US" sz="1600" dirty="0"/>
          </a:p>
        </p:txBody>
      </p:sp>
      <p:sp>
        <p:nvSpPr>
          <p:cNvPr id="75" name="Text 73"/>
          <p:cNvSpPr/>
          <p:nvPr/>
        </p:nvSpPr>
        <p:spPr>
          <a:xfrm>
            <a:off x="6903720" y="228600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475569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How bidders narrow through criteria.</a:t>
            </a:r>
            <a:endParaRPr lang="en-US" sz="1000" dirty="0"/>
          </a:p>
        </p:txBody>
      </p:sp>
      <p:sp>
        <p:nvSpPr>
          <p:cNvPr id="76" name="Text 74"/>
          <p:cNvSpPr/>
          <p:nvPr/>
        </p:nvSpPr>
        <p:spPr>
          <a:xfrm>
            <a:off x="6903720" y="27432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Submitted</a:t>
            </a:r>
            <a:endParaRPr lang="en-US" sz="1100" dirty="0"/>
          </a:p>
        </p:txBody>
      </p:sp>
      <p:sp>
        <p:nvSpPr>
          <p:cNvPr id="77" name="Text 75"/>
          <p:cNvSpPr/>
          <p:nvPr/>
        </p:nvSpPr>
        <p:spPr>
          <a:xfrm>
            <a:off x="10698480" y="2743200"/>
            <a:ext cx="777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0A77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5/5</a:t>
            </a:r>
            <a:endParaRPr lang="en-US" sz="1000" dirty="0"/>
          </a:p>
        </p:txBody>
      </p:sp>
      <p:sp>
        <p:nvSpPr>
          <p:cNvPr id="78" name="Shape 76"/>
          <p:cNvSpPr/>
          <p:nvPr/>
        </p:nvSpPr>
        <p:spPr>
          <a:xfrm>
            <a:off x="6903720" y="3035808"/>
            <a:ext cx="4023360" cy="164592"/>
          </a:xfrm>
          <a:prstGeom prst="roundRect">
            <a:avLst>
              <a:gd name="adj" fmla="val 50000"/>
            </a:avLst>
          </a:prstGeom>
          <a:solidFill>
            <a:srgbClr val="EAF1FF"/>
          </a:solidFill>
          <a:ln/>
        </p:spPr>
      </p:sp>
      <p:sp>
        <p:nvSpPr>
          <p:cNvPr id="79" name="Shape 77"/>
          <p:cNvSpPr/>
          <p:nvPr/>
        </p:nvSpPr>
        <p:spPr>
          <a:xfrm>
            <a:off x="6903720" y="3035808"/>
            <a:ext cx="4023360" cy="164592"/>
          </a:xfrm>
          <a:prstGeom prst="roundRect">
            <a:avLst>
              <a:gd name="adj" fmla="val 50000"/>
            </a:avLst>
          </a:prstGeom>
          <a:solidFill>
            <a:srgbClr val="00A77B"/>
          </a:solidFill>
          <a:ln/>
        </p:spPr>
      </p:sp>
      <p:sp>
        <p:nvSpPr>
          <p:cNvPr id="80" name="Text 78"/>
          <p:cNvSpPr/>
          <p:nvPr/>
        </p:nvSpPr>
        <p:spPr>
          <a:xfrm>
            <a:off x="6903720" y="329184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Turnover ≥ 5 cr</a:t>
            </a:r>
            <a:endParaRPr lang="en-US" sz="1100" dirty="0"/>
          </a:p>
        </p:txBody>
      </p:sp>
      <p:sp>
        <p:nvSpPr>
          <p:cNvPr id="81" name="Text 79"/>
          <p:cNvSpPr/>
          <p:nvPr/>
        </p:nvSpPr>
        <p:spPr>
          <a:xfrm>
            <a:off x="10698480" y="3291840"/>
            <a:ext cx="777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0A77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4/5</a:t>
            </a:r>
            <a:endParaRPr lang="en-US" sz="1000" dirty="0"/>
          </a:p>
        </p:txBody>
      </p:sp>
      <p:sp>
        <p:nvSpPr>
          <p:cNvPr id="82" name="Shape 80"/>
          <p:cNvSpPr/>
          <p:nvPr/>
        </p:nvSpPr>
        <p:spPr>
          <a:xfrm>
            <a:off x="6903720" y="3584448"/>
            <a:ext cx="4023360" cy="164592"/>
          </a:xfrm>
          <a:prstGeom prst="roundRect">
            <a:avLst>
              <a:gd name="adj" fmla="val 50000"/>
            </a:avLst>
          </a:prstGeom>
          <a:solidFill>
            <a:srgbClr val="EAF1FF"/>
          </a:solidFill>
          <a:ln/>
        </p:spPr>
      </p:sp>
      <p:sp>
        <p:nvSpPr>
          <p:cNvPr id="83" name="Shape 81"/>
          <p:cNvSpPr/>
          <p:nvPr/>
        </p:nvSpPr>
        <p:spPr>
          <a:xfrm>
            <a:off x="6903720" y="3584448"/>
            <a:ext cx="3383280" cy="164592"/>
          </a:xfrm>
          <a:prstGeom prst="roundRect">
            <a:avLst>
              <a:gd name="adj" fmla="val 50000"/>
            </a:avLst>
          </a:prstGeom>
          <a:solidFill>
            <a:srgbClr val="00A77B"/>
          </a:solidFill>
          <a:ln/>
        </p:spPr>
      </p:sp>
      <p:sp>
        <p:nvSpPr>
          <p:cNvPr id="84" name="Text 82"/>
          <p:cNvSpPr/>
          <p:nvPr/>
        </p:nvSpPr>
        <p:spPr>
          <a:xfrm>
            <a:off x="6903720" y="38404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Projects ≥ 3</a:t>
            </a:r>
            <a:endParaRPr lang="en-US" sz="1100" dirty="0"/>
          </a:p>
        </p:txBody>
      </p:sp>
      <p:sp>
        <p:nvSpPr>
          <p:cNvPr id="85" name="Text 83"/>
          <p:cNvSpPr/>
          <p:nvPr/>
        </p:nvSpPr>
        <p:spPr>
          <a:xfrm>
            <a:off x="10698480" y="3840480"/>
            <a:ext cx="777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0A77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3/5</a:t>
            </a:r>
            <a:endParaRPr lang="en-US" sz="1000" dirty="0"/>
          </a:p>
        </p:txBody>
      </p:sp>
      <p:sp>
        <p:nvSpPr>
          <p:cNvPr id="86" name="Shape 84"/>
          <p:cNvSpPr/>
          <p:nvPr/>
        </p:nvSpPr>
        <p:spPr>
          <a:xfrm>
            <a:off x="6903720" y="4133088"/>
            <a:ext cx="4023360" cy="164592"/>
          </a:xfrm>
          <a:prstGeom prst="roundRect">
            <a:avLst>
              <a:gd name="adj" fmla="val 50000"/>
            </a:avLst>
          </a:prstGeom>
          <a:solidFill>
            <a:srgbClr val="EAF1FF"/>
          </a:solidFill>
          <a:ln/>
        </p:spPr>
      </p:sp>
      <p:sp>
        <p:nvSpPr>
          <p:cNvPr id="87" name="Shape 85"/>
          <p:cNvSpPr/>
          <p:nvPr/>
        </p:nvSpPr>
        <p:spPr>
          <a:xfrm>
            <a:off x="6903720" y="4133088"/>
            <a:ext cx="2560320" cy="164592"/>
          </a:xfrm>
          <a:prstGeom prst="roundRect">
            <a:avLst>
              <a:gd name="adj" fmla="val 50000"/>
            </a:avLst>
          </a:prstGeom>
          <a:solidFill>
            <a:srgbClr val="00A77B"/>
          </a:solidFill>
          <a:ln/>
        </p:spPr>
      </p:sp>
      <p:sp>
        <p:nvSpPr>
          <p:cNvPr id="88" name="Text 86"/>
          <p:cNvSpPr/>
          <p:nvPr/>
        </p:nvSpPr>
        <p:spPr>
          <a:xfrm>
            <a:off x="6903720" y="43891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9001</a:t>
            </a:r>
            <a:endParaRPr lang="en-US" sz="1100" dirty="0"/>
          </a:p>
        </p:txBody>
      </p:sp>
      <p:sp>
        <p:nvSpPr>
          <p:cNvPr id="89" name="Text 87"/>
          <p:cNvSpPr/>
          <p:nvPr/>
        </p:nvSpPr>
        <p:spPr>
          <a:xfrm>
            <a:off x="10698480" y="4389120"/>
            <a:ext cx="777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0A77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3/5</a:t>
            </a:r>
            <a:endParaRPr lang="en-US" sz="1000" dirty="0"/>
          </a:p>
        </p:txBody>
      </p:sp>
      <p:sp>
        <p:nvSpPr>
          <p:cNvPr id="90" name="Shape 88"/>
          <p:cNvSpPr/>
          <p:nvPr/>
        </p:nvSpPr>
        <p:spPr>
          <a:xfrm>
            <a:off x="6903720" y="4681728"/>
            <a:ext cx="4023360" cy="164592"/>
          </a:xfrm>
          <a:prstGeom prst="roundRect">
            <a:avLst>
              <a:gd name="adj" fmla="val 50000"/>
            </a:avLst>
          </a:prstGeom>
          <a:solidFill>
            <a:srgbClr val="EAF1FF"/>
          </a:solidFill>
          <a:ln/>
        </p:spPr>
      </p:sp>
      <p:sp>
        <p:nvSpPr>
          <p:cNvPr id="91" name="Shape 89"/>
          <p:cNvSpPr/>
          <p:nvPr/>
        </p:nvSpPr>
        <p:spPr>
          <a:xfrm>
            <a:off x="6903720" y="4681728"/>
            <a:ext cx="2560320" cy="164592"/>
          </a:xfrm>
          <a:prstGeom prst="roundRect">
            <a:avLst>
              <a:gd name="adj" fmla="val 50000"/>
            </a:avLst>
          </a:prstGeom>
          <a:solidFill>
            <a:srgbClr val="00A77B"/>
          </a:solidFill>
          <a:ln/>
        </p:spPr>
      </p:sp>
      <p:sp>
        <p:nvSpPr>
          <p:cNvPr id="92" name="Text 90"/>
          <p:cNvSpPr/>
          <p:nvPr/>
        </p:nvSpPr>
        <p:spPr>
          <a:xfrm>
            <a:off x="6903720" y="493776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GST registration</a:t>
            </a:r>
            <a:endParaRPr lang="en-US" sz="1100" dirty="0"/>
          </a:p>
        </p:txBody>
      </p:sp>
      <p:sp>
        <p:nvSpPr>
          <p:cNvPr id="93" name="Text 91"/>
          <p:cNvSpPr/>
          <p:nvPr/>
        </p:nvSpPr>
        <p:spPr>
          <a:xfrm>
            <a:off x="10698480" y="4937760"/>
            <a:ext cx="777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0A77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3/5</a:t>
            </a:r>
            <a:endParaRPr lang="en-US" sz="1000" dirty="0"/>
          </a:p>
        </p:txBody>
      </p:sp>
      <p:sp>
        <p:nvSpPr>
          <p:cNvPr id="94" name="Shape 92"/>
          <p:cNvSpPr/>
          <p:nvPr/>
        </p:nvSpPr>
        <p:spPr>
          <a:xfrm>
            <a:off x="6903720" y="5230368"/>
            <a:ext cx="4023360" cy="164592"/>
          </a:xfrm>
          <a:prstGeom prst="roundRect">
            <a:avLst>
              <a:gd name="adj" fmla="val 50000"/>
            </a:avLst>
          </a:prstGeom>
          <a:solidFill>
            <a:srgbClr val="EAF1FF"/>
          </a:solidFill>
          <a:ln/>
        </p:spPr>
      </p:sp>
      <p:sp>
        <p:nvSpPr>
          <p:cNvPr id="95" name="Shape 93"/>
          <p:cNvSpPr/>
          <p:nvPr/>
        </p:nvSpPr>
        <p:spPr>
          <a:xfrm>
            <a:off x="6903720" y="5230368"/>
            <a:ext cx="2560320" cy="164592"/>
          </a:xfrm>
          <a:prstGeom prst="roundRect">
            <a:avLst>
              <a:gd name="adj" fmla="val 50000"/>
            </a:avLst>
          </a:prstGeom>
          <a:solidFill>
            <a:srgbClr val="00A77B"/>
          </a:solidFill>
          <a:ln/>
        </p:spPr>
      </p:sp>
      <p:sp>
        <p:nvSpPr>
          <p:cNvPr id="96" name="Text 94"/>
          <p:cNvSpPr/>
          <p:nvPr/>
        </p:nvSpPr>
        <p:spPr>
          <a:xfrm>
            <a:off x="6903720" y="54864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A7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ELIGIBLE</a:t>
            </a:r>
            <a:endParaRPr lang="en-US" sz="1100" dirty="0"/>
          </a:p>
        </p:txBody>
      </p:sp>
      <p:sp>
        <p:nvSpPr>
          <p:cNvPr id="97" name="Text 95"/>
          <p:cNvSpPr/>
          <p:nvPr/>
        </p:nvSpPr>
        <p:spPr>
          <a:xfrm>
            <a:off x="10698480" y="5486400"/>
            <a:ext cx="777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0A77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3/5</a:t>
            </a:r>
            <a:endParaRPr lang="en-US" sz="1000" dirty="0"/>
          </a:p>
        </p:txBody>
      </p:sp>
      <p:sp>
        <p:nvSpPr>
          <p:cNvPr id="98" name="Shape 96"/>
          <p:cNvSpPr/>
          <p:nvPr/>
        </p:nvSpPr>
        <p:spPr>
          <a:xfrm>
            <a:off x="6903720" y="5779008"/>
            <a:ext cx="4023360" cy="164592"/>
          </a:xfrm>
          <a:prstGeom prst="roundRect">
            <a:avLst>
              <a:gd name="adj" fmla="val 50000"/>
            </a:avLst>
          </a:prstGeom>
          <a:solidFill>
            <a:srgbClr val="EAF1FF"/>
          </a:solidFill>
          <a:ln/>
        </p:spPr>
      </p:sp>
      <p:sp>
        <p:nvSpPr>
          <p:cNvPr id="99" name="Shape 97"/>
          <p:cNvSpPr/>
          <p:nvPr/>
        </p:nvSpPr>
        <p:spPr>
          <a:xfrm>
            <a:off x="6903720" y="5779008"/>
            <a:ext cx="2560320" cy="164592"/>
          </a:xfrm>
          <a:prstGeom prst="roundRect">
            <a:avLst>
              <a:gd name="adj" fmla="val 50000"/>
            </a:avLst>
          </a:prstGeom>
          <a:solidFill>
            <a:srgbClr val="00E5A0"/>
          </a:solidFill>
          <a:ln/>
        </p:spPr>
      </p:sp>
      <p:sp>
        <p:nvSpPr>
          <p:cNvPr id="100" name="Text 98"/>
          <p:cNvSpPr/>
          <p:nvPr/>
        </p:nvSpPr>
        <p:spPr>
          <a:xfrm>
            <a:off x="10911535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10 / 17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E5A0"/>
          </a:solidFill>
          <a:ln/>
        </p:spPr>
      </p:sp>
      <p:sp>
        <p:nvSpPr>
          <p:cNvPr id="3" name="Shape 1"/>
          <p:cNvSpPr/>
          <p:nvPr/>
        </p:nvSpPr>
        <p:spPr>
          <a:xfrm>
            <a:off x="8534095" y="-1828800"/>
            <a:ext cx="5486400" cy="3657600"/>
          </a:xfrm>
          <a:prstGeom prst="ellipse">
            <a:avLst/>
          </a:prstGeom>
          <a:solidFill>
            <a:srgbClr val="00E5A0">
              <a:alpha val="8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-1828800" y="4114800"/>
            <a:ext cx="5486400" cy="3657600"/>
          </a:xfrm>
          <a:prstGeom prst="ellipse">
            <a:avLst/>
          </a:prstGeom>
          <a:solidFill>
            <a:srgbClr val="3D8BFD">
              <a:alpha val="8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0E5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· ARCHITECTURE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0080" y="77724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spc="-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tiers · zero magic · production-shape from day 1.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640080" y="1828800"/>
            <a:ext cx="5349240" cy="4480560"/>
          </a:xfrm>
          <a:prstGeom prst="roundRect">
            <a:avLst>
              <a:gd name="adj" fmla="val 3265"/>
            </a:avLst>
          </a:prstGeom>
          <a:solidFill>
            <a:srgbClr val="0F2845"/>
          </a:solidFill>
          <a:ln w="12700">
            <a:solidFill>
              <a:srgbClr val="1F3F7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68680" y="2011680"/>
            <a:ext cx="1691640" cy="320040"/>
          </a:xfrm>
          <a:prstGeom prst="roundRect">
            <a:avLst>
              <a:gd name="adj" fmla="val 50000"/>
            </a:avLst>
          </a:prstGeom>
          <a:solidFill>
            <a:srgbClr val="003D2A"/>
          </a:solidFill>
          <a:ln w="9525">
            <a:solidFill>
              <a:srgbClr val="00E5A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68680" y="2011680"/>
            <a:ext cx="1691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00E5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868680" y="242316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18 · Vite 5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868680" y="288036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A9AB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Vercel · static SPA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68680" y="3520440"/>
            <a:ext cx="164592" cy="164592"/>
          </a:xfrm>
          <a:prstGeom prst="ellipse">
            <a:avLst/>
          </a:prstGeom>
          <a:solidFill>
            <a:srgbClr val="00E5A0"/>
          </a:solidFill>
          <a:ln/>
        </p:spPr>
      </p:sp>
      <p:sp>
        <p:nvSpPr>
          <p:cNvPr id="13" name="Text 11"/>
          <p:cNvSpPr/>
          <p:nvPr/>
        </p:nvSpPr>
        <p:spPr>
          <a:xfrm>
            <a:off x="1143000" y="342900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ECF4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Two-portal SPA (public Bidder + locked Admin)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68680" y="3977640"/>
            <a:ext cx="164592" cy="164592"/>
          </a:xfrm>
          <a:prstGeom prst="ellipse">
            <a:avLst/>
          </a:prstGeom>
          <a:solidFill>
            <a:srgbClr val="00E5A0"/>
          </a:solidFill>
          <a:ln/>
        </p:spPr>
      </p:sp>
      <p:sp>
        <p:nvSpPr>
          <p:cNvPr id="15" name="Text 13"/>
          <p:cNvSpPr/>
          <p:nvPr/>
        </p:nvSpPr>
        <p:spPr>
          <a:xfrm>
            <a:off x="1143000" y="388620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ECF4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Local AuthContext + localStorage session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68680" y="4434840"/>
            <a:ext cx="164592" cy="164592"/>
          </a:xfrm>
          <a:prstGeom prst="ellipse">
            <a:avLst/>
          </a:prstGeom>
          <a:solidFill>
            <a:srgbClr val="00E5A0"/>
          </a:solidFill>
          <a:ln/>
        </p:spPr>
      </p:sp>
      <p:sp>
        <p:nvSpPr>
          <p:cNvPr id="17" name="Text 15"/>
          <p:cNvSpPr/>
          <p:nvPr/>
        </p:nvSpPr>
        <p:spPr>
          <a:xfrm>
            <a:off x="1143000" y="434340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ECF4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Axios client with VITE_API_URL fallback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868680" y="4892040"/>
            <a:ext cx="164592" cy="164592"/>
          </a:xfrm>
          <a:prstGeom prst="ellipse">
            <a:avLst/>
          </a:prstGeom>
          <a:solidFill>
            <a:srgbClr val="00E5A0"/>
          </a:solidFill>
          <a:ln/>
        </p:spPr>
      </p:sp>
      <p:sp>
        <p:nvSpPr>
          <p:cNvPr id="19" name="Text 17"/>
          <p:cNvSpPr/>
          <p:nvPr/>
        </p:nvSpPr>
        <p:spPr>
          <a:xfrm>
            <a:off x="1143000" y="480060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ECF4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CountUp + live polling (8 s tender, 12 s overview)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868680" y="5349240"/>
            <a:ext cx="164592" cy="164592"/>
          </a:xfrm>
          <a:prstGeom prst="ellipse">
            <a:avLst/>
          </a:prstGeom>
          <a:solidFill>
            <a:srgbClr val="00E5A0"/>
          </a:solidFill>
          <a:ln/>
        </p:spPr>
      </p:sp>
      <p:sp>
        <p:nvSpPr>
          <p:cNvPr id="21" name="Text 19"/>
          <p:cNvSpPr/>
          <p:nvPr/>
        </p:nvSpPr>
        <p:spPr>
          <a:xfrm>
            <a:off x="1143000" y="525780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ECF4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Pure CSS variables — no framework lock-in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263640" y="1828800"/>
            <a:ext cx="5349240" cy="4480560"/>
          </a:xfrm>
          <a:prstGeom prst="roundRect">
            <a:avLst>
              <a:gd name="adj" fmla="val 3265"/>
            </a:avLst>
          </a:prstGeom>
          <a:solidFill>
            <a:srgbClr val="0F2845"/>
          </a:solidFill>
          <a:ln w="12700">
            <a:solidFill>
              <a:srgbClr val="1F3F7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492240" y="2011680"/>
            <a:ext cx="1691640" cy="320040"/>
          </a:xfrm>
          <a:prstGeom prst="roundRect">
            <a:avLst>
              <a:gd name="adj" fmla="val 50000"/>
            </a:avLst>
          </a:prstGeom>
          <a:solidFill>
            <a:srgbClr val="12243F"/>
          </a:solidFill>
          <a:ln w="9525">
            <a:solidFill>
              <a:srgbClr val="3D8BFD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92240" y="2011680"/>
            <a:ext cx="1691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3D8B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6492240" y="242316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· Uvicorn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6492240" y="288036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A9AB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Render · Python 3.10 web service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6492240" y="3520440"/>
            <a:ext cx="164592" cy="164592"/>
          </a:xfrm>
          <a:prstGeom prst="ellipse">
            <a:avLst/>
          </a:prstGeom>
          <a:solidFill>
            <a:srgbClr val="3D8BFD"/>
          </a:solidFill>
          <a:ln/>
        </p:spPr>
      </p:sp>
      <p:sp>
        <p:nvSpPr>
          <p:cNvPr id="28" name="Text 26"/>
          <p:cNvSpPr/>
          <p:nvPr/>
        </p:nvSpPr>
        <p:spPr>
          <a:xfrm>
            <a:off x="6766560" y="3429000"/>
            <a:ext cx="4663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ECF4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PyMuPDF · Tesseract · python-docx (multi-OCR)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492240" y="3904488"/>
            <a:ext cx="164592" cy="164592"/>
          </a:xfrm>
          <a:prstGeom prst="ellipse">
            <a:avLst/>
          </a:prstGeom>
          <a:solidFill>
            <a:srgbClr val="3D8BFD"/>
          </a:solidFill>
          <a:ln/>
        </p:spPr>
      </p:sp>
      <p:sp>
        <p:nvSpPr>
          <p:cNvPr id="30" name="Text 28"/>
          <p:cNvSpPr/>
          <p:nvPr/>
        </p:nvSpPr>
        <p:spPr>
          <a:xfrm>
            <a:off x="6766560" y="3813048"/>
            <a:ext cx="4663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ECF4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Regex + section detection extractors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6492240" y="4288536"/>
            <a:ext cx="164592" cy="164592"/>
          </a:xfrm>
          <a:prstGeom prst="ellipse">
            <a:avLst/>
          </a:prstGeom>
          <a:solidFill>
            <a:srgbClr val="3D8BFD"/>
          </a:solidFill>
          <a:ln/>
        </p:spPr>
      </p:sp>
      <p:sp>
        <p:nvSpPr>
          <p:cNvPr id="32" name="Text 30"/>
          <p:cNvSpPr/>
          <p:nvPr/>
        </p:nvSpPr>
        <p:spPr>
          <a:xfrm>
            <a:off x="6766560" y="4197096"/>
            <a:ext cx="4663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ECF4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Confidence scorer (40% OCR · 60% extraction)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6492240" y="4672584"/>
            <a:ext cx="164592" cy="164592"/>
          </a:xfrm>
          <a:prstGeom prst="ellipse">
            <a:avLst/>
          </a:prstGeom>
          <a:solidFill>
            <a:srgbClr val="3D8BFD"/>
          </a:solidFill>
          <a:ln/>
        </p:spPr>
      </p:sp>
      <p:sp>
        <p:nvSpPr>
          <p:cNvPr id="34" name="Text 32"/>
          <p:cNvSpPr/>
          <p:nvPr/>
        </p:nvSpPr>
        <p:spPr>
          <a:xfrm>
            <a:off x="6766560" y="4581144"/>
            <a:ext cx="4663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ECF4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Rule-based matching engine — fully deterministic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6492240" y="5056632"/>
            <a:ext cx="164592" cy="164592"/>
          </a:xfrm>
          <a:prstGeom prst="ellipse">
            <a:avLst/>
          </a:prstGeom>
          <a:solidFill>
            <a:srgbClr val="3D8BFD"/>
          </a:solidFill>
          <a:ln/>
        </p:spPr>
      </p:sp>
      <p:sp>
        <p:nvSpPr>
          <p:cNvPr id="36" name="Text 34"/>
          <p:cNvSpPr/>
          <p:nvPr/>
        </p:nvSpPr>
        <p:spPr>
          <a:xfrm>
            <a:off x="6766560" y="4965192"/>
            <a:ext cx="4663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ECF4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ReportLab PDF + JSON evaluation reports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6492240" y="5440680"/>
            <a:ext cx="164592" cy="164592"/>
          </a:xfrm>
          <a:prstGeom prst="ellipse">
            <a:avLst/>
          </a:prstGeom>
          <a:solidFill>
            <a:srgbClr val="3D8BFD"/>
          </a:solidFill>
          <a:ln/>
        </p:spPr>
      </p:sp>
      <p:sp>
        <p:nvSpPr>
          <p:cNvPr id="38" name="Text 36"/>
          <p:cNvSpPr/>
          <p:nvPr/>
        </p:nvSpPr>
        <p:spPr>
          <a:xfrm>
            <a:off x="6766560" y="5349240"/>
            <a:ext cx="4663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ECF4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Append-only JSONL audit log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10911535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AB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11 / 17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E5A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A1628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0E5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· DEPLOYMENT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77724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spc="-100" kern="0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today on Vercel + Render.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640080" y="1828800"/>
            <a:ext cx="5486400" cy="429768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68680" y="2011680"/>
            <a:ext cx="777240" cy="777240"/>
          </a:xfrm>
          <a:prstGeom prst="ellipse">
            <a:avLst/>
          </a:prstGeom>
          <a:solidFill>
            <a:srgbClr val="0A1628"/>
          </a:solidFill>
          <a:ln/>
        </p:spPr>
      </p:sp>
      <p:sp>
        <p:nvSpPr>
          <p:cNvPr id="8" name="Text 6"/>
          <p:cNvSpPr/>
          <p:nvPr/>
        </p:nvSpPr>
        <p:spPr>
          <a:xfrm>
            <a:off x="868680" y="2011680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38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</a:t>
            </a:r>
            <a:endParaRPr lang="en-US" sz="2380" dirty="0"/>
          </a:p>
        </p:txBody>
      </p:sp>
      <p:sp>
        <p:nvSpPr>
          <p:cNvPr id="9" name="Text 7"/>
          <p:cNvSpPr/>
          <p:nvPr/>
        </p:nvSpPr>
        <p:spPr>
          <a:xfrm>
            <a:off x="1874520" y="2057400"/>
            <a:ext cx="4114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Vercel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1874520" y="2423160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Static React SPA · global CDN · instant deploys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868680" y="301752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0A7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868680" y="333756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▸ Project Root: frontend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868680" y="3630168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▸ Build: npm run build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868680" y="3922776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▸ Output: dist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868680" y="4215384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▸ Rewrite /(.*) → /index.html (SPA)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868680" y="461772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0A7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868680" y="493776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VITE_API_URL  · https://api.onrender.com/api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868680" y="5230368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VITE_ADMIN_USERNAME · admin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868680" y="5522976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VITE_ADMIN_PASSWORD · crpf@2025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355080" y="1828800"/>
            <a:ext cx="5212080" cy="429768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583680" y="2011680"/>
            <a:ext cx="777240" cy="777240"/>
          </a:xfrm>
          <a:prstGeom prst="ellipse">
            <a:avLst/>
          </a:prstGeom>
          <a:solidFill>
            <a:srgbClr val="00A77B"/>
          </a:solidFill>
          <a:ln/>
        </p:spPr>
      </p:sp>
      <p:sp>
        <p:nvSpPr>
          <p:cNvPr id="22" name="Text 20"/>
          <p:cNvSpPr/>
          <p:nvPr/>
        </p:nvSpPr>
        <p:spPr>
          <a:xfrm>
            <a:off x="6583680" y="2011680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38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</a:t>
            </a:r>
            <a:endParaRPr lang="en-US" sz="2380" dirty="0"/>
          </a:p>
        </p:txBody>
      </p:sp>
      <p:sp>
        <p:nvSpPr>
          <p:cNvPr id="23" name="Text 21"/>
          <p:cNvSpPr/>
          <p:nvPr/>
        </p:nvSpPr>
        <p:spPr>
          <a:xfrm>
            <a:off x="7589520" y="2057400"/>
            <a:ext cx="3840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7589520" y="2423160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FastAPI web service · Tesseract built-in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583680" y="301752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0A7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583680" y="3337560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▸ Root: backend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6583680" y="3630168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▸ Build: pip install -r requirements.txt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6583680" y="3922776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▸ Start: uvicorn main:app --port $PORT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6583680" y="4215384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▸ Persistent disk mounted at data/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6583680" y="461772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0A7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6583680" y="493776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FRONTEND_URL · https://app.vercel.app  (CORS)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6583680" y="5230368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PYTHONUNBUFFERED · 1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10911535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12 / 17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E5A0"/>
          </a:solidFill>
          <a:ln/>
        </p:spPr>
      </p:sp>
      <p:sp>
        <p:nvSpPr>
          <p:cNvPr id="3" name="Shape 1"/>
          <p:cNvSpPr/>
          <p:nvPr/>
        </p:nvSpPr>
        <p:spPr>
          <a:xfrm>
            <a:off x="8534095" y="-1828800"/>
            <a:ext cx="5486400" cy="3657600"/>
          </a:xfrm>
          <a:prstGeom prst="ellipse">
            <a:avLst/>
          </a:prstGeom>
          <a:solidFill>
            <a:srgbClr val="00E5A0">
              <a:alpha val="8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-1828800" y="4114800"/>
            <a:ext cx="5486400" cy="3657600"/>
          </a:xfrm>
          <a:prstGeom prst="ellipse">
            <a:avLst/>
          </a:prstGeom>
          <a:solidFill>
            <a:srgbClr val="3D8BFD">
              <a:alpha val="8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0E5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· IMPACT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0080" y="77724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spc="-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for the procurement officer.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640080" y="1920240"/>
            <a:ext cx="5349240" cy="2103120"/>
          </a:xfrm>
          <a:prstGeom prst="roundRect">
            <a:avLst>
              <a:gd name="adj" fmla="val 6957"/>
            </a:avLst>
          </a:prstGeom>
          <a:solidFill>
            <a:srgbClr val="0F2845"/>
          </a:solidFill>
          <a:ln w="12700">
            <a:solidFill>
              <a:srgbClr val="1F3F7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2057400"/>
            <a:ext cx="27432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00E5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12+</a:t>
            </a:r>
            <a:endParaRPr lang="en-US" sz="7600" dirty="0"/>
          </a:p>
        </p:txBody>
      </p:sp>
      <p:sp>
        <p:nvSpPr>
          <p:cNvPr id="9" name="Text 7"/>
          <p:cNvSpPr/>
          <p:nvPr/>
        </p:nvSpPr>
        <p:spPr>
          <a:xfrm>
            <a:off x="914400" y="310896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12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Hours saved per tender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914400" y="347472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8A9AB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vs. ~12 min × 60 criteria-bidder pairs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190488" y="1920240"/>
            <a:ext cx="5349240" cy="2103120"/>
          </a:xfrm>
          <a:prstGeom prst="roundRect">
            <a:avLst>
              <a:gd name="adj" fmla="val 6957"/>
            </a:avLst>
          </a:prstGeom>
          <a:solidFill>
            <a:srgbClr val="0F2845"/>
          </a:solidFill>
          <a:ln w="12700">
            <a:solidFill>
              <a:srgbClr val="1F3F7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64808" y="2057400"/>
            <a:ext cx="27432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00E5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7600" dirty="0"/>
          </a:p>
        </p:txBody>
      </p:sp>
      <p:sp>
        <p:nvSpPr>
          <p:cNvPr id="13" name="Text 11"/>
          <p:cNvSpPr/>
          <p:nvPr/>
        </p:nvSpPr>
        <p:spPr>
          <a:xfrm>
            <a:off x="6464808" y="310896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12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Verdicts explainable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464808" y="347472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8A9AB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every Pass · Fail · Review traced to source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40080" y="4251960"/>
            <a:ext cx="5349240" cy="2103120"/>
          </a:xfrm>
          <a:prstGeom prst="roundRect">
            <a:avLst>
              <a:gd name="adj" fmla="val 6957"/>
            </a:avLst>
          </a:prstGeom>
          <a:solidFill>
            <a:srgbClr val="0F2845"/>
          </a:solidFill>
          <a:ln w="12700">
            <a:solidFill>
              <a:srgbClr val="1F3F7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14400" y="4389120"/>
            <a:ext cx="27432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00E5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7600" dirty="0"/>
          </a:p>
        </p:txBody>
      </p:sp>
      <p:sp>
        <p:nvSpPr>
          <p:cNvPr id="17" name="Text 15"/>
          <p:cNvSpPr/>
          <p:nvPr/>
        </p:nvSpPr>
        <p:spPr>
          <a:xfrm>
            <a:off x="914400" y="544068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12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Silent rejections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914400" y="580644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8A9AB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ambiguous → manual review, never auto-fail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190488" y="4251960"/>
            <a:ext cx="5349240" cy="2103120"/>
          </a:xfrm>
          <a:prstGeom prst="roundRect">
            <a:avLst>
              <a:gd name="adj" fmla="val 6957"/>
            </a:avLst>
          </a:prstGeom>
          <a:solidFill>
            <a:srgbClr val="0F2845"/>
          </a:solidFill>
          <a:ln w="12700">
            <a:solidFill>
              <a:srgbClr val="1F3F7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64808" y="4389120"/>
            <a:ext cx="27432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00E5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60+</a:t>
            </a:r>
            <a:endParaRPr lang="en-US" sz="7600" dirty="0"/>
          </a:p>
        </p:txBody>
      </p:sp>
      <p:sp>
        <p:nvSpPr>
          <p:cNvPr id="21" name="Text 19"/>
          <p:cNvSpPr/>
          <p:nvPr/>
        </p:nvSpPr>
        <p:spPr>
          <a:xfrm>
            <a:off x="6464808" y="544068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12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Decisions automated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6464808" y="580644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8A9AB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criterion × bidder verdicts per tender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0911535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AB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13 / 17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E5A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A1628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0E5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· WHY WE WIN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77724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spc="-100" kern="0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Mapped to the official rubric.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640080" y="1828800"/>
            <a:ext cx="10972800" cy="777240"/>
          </a:xfrm>
          <a:prstGeom prst="roundRect">
            <a:avLst>
              <a:gd name="adj" fmla="val 18824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77240" y="2011680"/>
            <a:ext cx="868680" cy="411480"/>
          </a:xfrm>
          <a:prstGeom prst="roundRect">
            <a:avLst>
              <a:gd name="adj" fmla="val 50000"/>
            </a:avLst>
          </a:prstGeom>
          <a:solidFill>
            <a:srgbClr val="00E5A0"/>
          </a:solidFill>
          <a:ln/>
        </p:spPr>
      </p:sp>
      <p:sp>
        <p:nvSpPr>
          <p:cNvPr id="8" name="Text 6"/>
          <p:cNvSpPr/>
          <p:nvPr/>
        </p:nvSpPr>
        <p:spPr>
          <a:xfrm>
            <a:off x="777240" y="2011680"/>
            <a:ext cx="868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20%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783080" y="192024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Relevance &amp; Depth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783080" y="2194560"/>
            <a:ext cx="969264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475569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Realistic CRPF tender numbering, EMD wording, mandatory flags · human-in-the-loop reality acknowledged.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40080" y="2697480"/>
            <a:ext cx="10972800" cy="777240"/>
          </a:xfrm>
          <a:prstGeom prst="roundRect">
            <a:avLst>
              <a:gd name="adj" fmla="val 18824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77240" y="2880360"/>
            <a:ext cx="868680" cy="411480"/>
          </a:xfrm>
          <a:prstGeom prst="roundRect">
            <a:avLst>
              <a:gd name="adj" fmla="val 50000"/>
            </a:avLst>
          </a:prstGeom>
          <a:solidFill>
            <a:srgbClr val="00E5A0"/>
          </a:solidFill>
          <a:ln/>
        </p:spPr>
      </p:sp>
      <p:sp>
        <p:nvSpPr>
          <p:cNvPr id="13" name="Text 11"/>
          <p:cNvSpPr/>
          <p:nvPr/>
        </p:nvSpPr>
        <p:spPr>
          <a:xfrm>
            <a:off x="777240" y="2880360"/>
            <a:ext cx="868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25%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783080" y="278892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Implementation &amp; Innovation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783080" y="3063240"/>
            <a:ext cx="969264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475569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Multi-strategy OCR · Indian-system parser · auto-routed NEED_REVIEW · AI Risk Radar · live dashboards.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40080" y="3566160"/>
            <a:ext cx="10972800" cy="777240"/>
          </a:xfrm>
          <a:prstGeom prst="roundRect">
            <a:avLst>
              <a:gd name="adj" fmla="val 18824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77240" y="3749040"/>
            <a:ext cx="868680" cy="411480"/>
          </a:xfrm>
          <a:prstGeom prst="roundRect">
            <a:avLst>
              <a:gd name="adj" fmla="val 50000"/>
            </a:avLst>
          </a:prstGeom>
          <a:solidFill>
            <a:srgbClr val="00E5A0"/>
          </a:solidFill>
          <a:ln/>
        </p:spPr>
      </p:sp>
      <p:sp>
        <p:nvSpPr>
          <p:cNvPr id="18" name="Text 16"/>
          <p:cNvSpPr/>
          <p:nvPr/>
        </p:nvSpPr>
        <p:spPr>
          <a:xfrm>
            <a:off x="777240" y="3749040"/>
            <a:ext cx="868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25%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783080" y="365760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Real-World Deployability &amp; Govt Feasibility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783080" y="3931920"/>
            <a:ext cx="969264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475569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Zero 3rd-party AI calls · audit log · JSON+PDF sign-off reports · Vercel+Render free-tier deploy.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40080" y="4434840"/>
            <a:ext cx="10972800" cy="777240"/>
          </a:xfrm>
          <a:prstGeom prst="roundRect">
            <a:avLst>
              <a:gd name="adj" fmla="val 18824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77240" y="4617720"/>
            <a:ext cx="868680" cy="411480"/>
          </a:xfrm>
          <a:prstGeom prst="roundRect">
            <a:avLst>
              <a:gd name="adj" fmla="val 50000"/>
            </a:avLst>
          </a:prstGeom>
          <a:solidFill>
            <a:srgbClr val="00E5A0"/>
          </a:solidFill>
          <a:ln/>
        </p:spPr>
      </p:sp>
      <p:sp>
        <p:nvSpPr>
          <p:cNvPr id="23" name="Text 21"/>
          <p:cNvSpPr/>
          <p:nvPr/>
        </p:nvSpPr>
        <p:spPr>
          <a:xfrm>
            <a:off x="777240" y="4617720"/>
            <a:ext cx="868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15%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1783080" y="4526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Quality &amp; Presentation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1783080" y="4800600"/>
            <a:ext cx="969264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475569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Pulsing live indicators · animated KPIs · creds shown on login · live submission moment in demo.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40080" y="5303520"/>
            <a:ext cx="10972800" cy="777240"/>
          </a:xfrm>
          <a:prstGeom prst="roundRect">
            <a:avLst>
              <a:gd name="adj" fmla="val 18824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77240" y="5486400"/>
            <a:ext cx="868680" cy="411480"/>
          </a:xfrm>
          <a:prstGeom prst="roundRect">
            <a:avLst>
              <a:gd name="adj" fmla="val 50000"/>
            </a:avLst>
          </a:prstGeom>
          <a:solidFill>
            <a:srgbClr val="00E5A0"/>
          </a:solidFill>
          <a:ln/>
        </p:spPr>
      </p:sp>
      <p:sp>
        <p:nvSpPr>
          <p:cNvPr id="28" name="Text 26"/>
          <p:cNvSpPr/>
          <p:nvPr/>
        </p:nvSpPr>
        <p:spPr>
          <a:xfrm>
            <a:off x="777240" y="5486400"/>
            <a:ext cx="868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15%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1783080" y="539496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Scalability &amp; Long-Term Impact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1783080" y="5669280"/>
            <a:ext cx="969264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475569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Stateless container · multi-tenant ready · time-saved metric aggregates · roadmap to LLM second-pass + DSC.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10911535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14 / 17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E5A0"/>
          </a:solidFill>
          <a:ln/>
        </p:spPr>
      </p:sp>
      <p:sp>
        <p:nvSpPr>
          <p:cNvPr id="3" name="Shape 1"/>
          <p:cNvSpPr/>
          <p:nvPr/>
        </p:nvSpPr>
        <p:spPr>
          <a:xfrm>
            <a:off x="8534095" y="-1828800"/>
            <a:ext cx="5486400" cy="3657600"/>
          </a:xfrm>
          <a:prstGeom prst="ellipse">
            <a:avLst/>
          </a:prstGeom>
          <a:solidFill>
            <a:srgbClr val="00E5A0">
              <a:alpha val="8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-1828800" y="4114800"/>
            <a:ext cx="5486400" cy="3657600"/>
          </a:xfrm>
          <a:prstGeom prst="ellipse">
            <a:avLst/>
          </a:prstGeom>
          <a:solidFill>
            <a:srgbClr val="3D8BFD">
              <a:alpha val="8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0E5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· ROADMAP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0080" y="77724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spc="-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2 · Production hardening, no rewrites.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640080" y="1828800"/>
            <a:ext cx="3520440" cy="2011680"/>
          </a:xfrm>
          <a:prstGeom prst="roundRect">
            <a:avLst>
              <a:gd name="adj" fmla="val 7273"/>
            </a:avLst>
          </a:prstGeom>
          <a:solidFill>
            <a:srgbClr val="0F2845"/>
          </a:solidFill>
          <a:ln w="12700">
            <a:solidFill>
              <a:srgbClr val="00E5A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68680" y="2011680"/>
            <a:ext cx="777240" cy="292608"/>
          </a:xfrm>
          <a:prstGeom prst="roundRect">
            <a:avLst>
              <a:gd name="adj" fmla="val 50000"/>
            </a:avLst>
          </a:prstGeom>
          <a:solidFill>
            <a:srgbClr val="12243F"/>
          </a:solidFill>
          <a:ln w="9525">
            <a:solidFill>
              <a:srgbClr val="00E5A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68680" y="2011680"/>
            <a:ext cx="777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00E5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868680" y="242316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second-pass extractor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868680" y="2880360"/>
            <a:ext cx="31089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A9AB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Local Mistral 7B / Llama 3-8B rescues criteria the regex misses. Verdict still emitted by deterministic engine.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361688" y="1828800"/>
            <a:ext cx="3520440" cy="2011680"/>
          </a:xfrm>
          <a:prstGeom prst="roundRect">
            <a:avLst>
              <a:gd name="adj" fmla="val 7273"/>
            </a:avLst>
          </a:prstGeom>
          <a:solidFill>
            <a:srgbClr val="0F2845"/>
          </a:solidFill>
          <a:ln w="12700">
            <a:solidFill>
              <a:srgbClr val="00E5A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90288" y="2011680"/>
            <a:ext cx="777240" cy="292608"/>
          </a:xfrm>
          <a:prstGeom prst="roundRect">
            <a:avLst>
              <a:gd name="adj" fmla="val 50000"/>
            </a:avLst>
          </a:prstGeom>
          <a:solidFill>
            <a:srgbClr val="12243F"/>
          </a:solidFill>
          <a:ln w="9525">
            <a:solidFill>
              <a:srgbClr val="00E5A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90288" y="2011680"/>
            <a:ext cx="777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00E5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4590288" y="242316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Aadhaar-eSign / DSC sign-off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590288" y="2880360"/>
            <a:ext cx="31089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A9AB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Embed digital signature into the PDF report at download time. Audit log captures the signature event.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8083296" y="1828800"/>
            <a:ext cx="3520440" cy="2011680"/>
          </a:xfrm>
          <a:prstGeom prst="roundRect">
            <a:avLst>
              <a:gd name="adj" fmla="val 7273"/>
            </a:avLst>
          </a:prstGeom>
          <a:solidFill>
            <a:srgbClr val="0F2845"/>
          </a:solidFill>
          <a:ln w="12700">
            <a:solidFill>
              <a:srgbClr val="3D8BFD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311896" y="2011680"/>
            <a:ext cx="777240" cy="292608"/>
          </a:xfrm>
          <a:prstGeom prst="roundRect">
            <a:avLst>
              <a:gd name="adj" fmla="val 50000"/>
            </a:avLst>
          </a:prstGeom>
          <a:solidFill>
            <a:srgbClr val="12243F"/>
          </a:solidFill>
          <a:ln w="9525">
            <a:solidFill>
              <a:srgbClr val="3D8BF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311896" y="2011680"/>
            <a:ext cx="777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3D8B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SOON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8311896" y="242316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 + S3 storage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311896" y="2880360"/>
            <a:ext cx="31089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A9AB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Storage shim already abstracts the swap; add KMS-encrypted bidder docs and relational session tables.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640080" y="4023360"/>
            <a:ext cx="3520440" cy="2011680"/>
          </a:xfrm>
          <a:prstGeom prst="roundRect">
            <a:avLst>
              <a:gd name="adj" fmla="val 7273"/>
            </a:avLst>
          </a:prstGeom>
          <a:solidFill>
            <a:srgbClr val="0F2845"/>
          </a:solidFill>
          <a:ln w="12700">
            <a:solidFill>
              <a:srgbClr val="3D8BFD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68680" y="4206240"/>
            <a:ext cx="777240" cy="292608"/>
          </a:xfrm>
          <a:prstGeom prst="roundRect">
            <a:avLst>
              <a:gd name="adj" fmla="val 50000"/>
            </a:avLst>
          </a:prstGeom>
          <a:solidFill>
            <a:srgbClr val="12243F"/>
          </a:solidFill>
          <a:ln w="9525">
            <a:solidFill>
              <a:srgbClr val="3D8BFD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68680" y="4206240"/>
            <a:ext cx="777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3D8B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SOON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868680" y="461772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Per-tender encryption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868680" y="5074920"/>
            <a:ext cx="31089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A9AB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Symmetric key per tender; client-side encryption of bidder uploads. Admin sees plaintext only after sign-in.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4361688" y="4023360"/>
            <a:ext cx="3520440" cy="2011680"/>
          </a:xfrm>
          <a:prstGeom prst="roundRect">
            <a:avLst>
              <a:gd name="adj" fmla="val 7273"/>
            </a:avLst>
          </a:prstGeom>
          <a:solidFill>
            <a:srgbClr val="0F2845"/>
          </a:solidFill>
          <a:ln w="12700">
            <a:solidFill>
              <a:srgbClr val="FFB74D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590288" y="4206240"/>
            <a:ext cx="777240" cy="292608"/>
          </a:xfrm>
          <a:prstGeom prst="roundRect">
            <a:avLst>
              <a:gd name="adj" fmla="val 50000"/>
            </a:avLst>
          </a:prstGeom>
          <a:solidFill>
            <a:srgbClr val="12243F"/>
          </a:solidFill>
          <a:ln w="9525">
            <a:solidFill>
              <a:srgbClr val="FFB74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590288" y="4206240"/>
            <a:ext cx="777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B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LATER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4590288" y="461772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Multi-language OCR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4590288" y="5074920"/>
            <a:ext cx="31089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A9AB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Hindi + regional language tender + bidder support. Verdicts shown in officer's preferred language.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8083296" y="4023360"/>
            <a:ext cx="3520440" cy="2011680"/>
          </a:xfrm>
          <a:prstGeom prst="roundRect">
            <a:avLst>
              <a:gd name="adj" fmla="val 7273"/>
            </a:avLst>
          </a:prstGeom>
          <a:solidFill>
            <a:srgbClr val="0F2845"/>
          </a:solidFill>
          <a:ln w="12700">
            <a:solidFill>
              <a:srgbClr val="FFB74D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311896" y="4206240"/>
            <a:ext cx="777240" cy="292608"/>
          </a:xfrm>
          <a:prstGeom prst="roundRect">
            <a:avLst>
              <a:gd name="adj" fmla="val 50000"/>
            </a:avLst>
          </a:prstGeom>
          <a:solidFill>
            <a:srgbClr val="12243F"/>
          </a:solidFill>
          <a:ln w="9525">
            <a:solidFill>
              <a:srgbClr val="FFB74D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8311896" y="4206240"/>
            <a:ext cx="777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B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LATER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8311896" y="461772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 bidder app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8311896" y="5074920"/>
            <a:ext cx="31089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A9AB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Phone-camera capture with auto-orientation and edge detection so vendors can shoot paper certificates directly.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10911535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AB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15 / 17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E5A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A1628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0E5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· TRY IT NOW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77724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spc="-100" kern="0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below works in 60 seconds.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640080" y="1828800"/>
            <a:ext cx="10972800" cy="777240"/>
          </a:xfrm>
          <a:prstGeom prst="roundRect">
            <a:avLst>
              <a:gd name="adj" fmla="val 18824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1993392"/>
            <a:ext cx="457200" cy="457200"/>
          </a:xfrm>
          <a:prstGeom prst="ellipse">
            <a:avLst/>
          </a:prstGeom>
          <a:solidFill>
            <a:srgbClr val="00E5A0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199339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463040" y="192024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the Bidder Portal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463040" y="2240280"/>
            <a:ext cx="4572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0A77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&lt;frontend-url&gt;.vercel.app/bidder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6400800" y="1993392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Browse open tenders. Click Apply on any one. Upload the sample bidder PDFs.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40080" y="2697480"/>
            <a:ext cx="10972800" cy="777240"/>
          </a:xfrm>
          <a:prstGeom prst="roundRect">
            <a:avLst>
              <a:gd name="adj" fmla="val 18824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2960" y="2862072"/>
            <a:ext cx="457200" cy="457200"/>
          </a:xfrm>
          <a:prstGeom prst="ellipse">
            <a:avLst/>
          </a:prstGeom>
          <a:solidFill>
            <a:srgbClr val="00E5A0"/>
          </a:solidFill>
          <a:ln/>
        </p:spPr>
      </p:sp>
      <p:sp>
        <p:nvSpPr>
          <p:cNvPr id="14" name="Text 12"/>
          <p:cNvSpPr/>
          <p:nvPr/>
        </p:nvSpPr>
        <p:spPr>
          <a:xfrm>
            <a:off x="822960" y="286207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463040" y="278892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the Admin Login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463040" y="3108960"/>
            <a:ext cx="4572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0A77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&lt;frontend-url&gt;.vercel.app/login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6400800" y="2862072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Auto-fill the demo credentials shown on screen and click Sign in.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40080" y="3566160"/>
            <a:ext cx="10972800" cy="777240"/>
          </a:xfrm>
          <a:prstGeom prst="roundRect">
            <a:avLst>
              <a:gd name="adj" fmla="val 18824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2960" y="3730752"/>
            <a:ext cx="457200" cy="457200"/>
          </a:xfrm>
          <a:prstGeom prst="ellipse">
            <a:avLst/>
          </a:prstGeom>
          <a:solidFill>
            <a:srgbClr val="00E5A0"/>
          </a:solidFill>
          <a:ln/>
        </p:spPr>
      </p:sp>
      <p:sp>
        <p:nvSpPr>
          <p:cNvPr id="20" name="Text 18"/>
          <p:cNvSpPr/>
          <p:nvPr/>
        </p:nvSpPr>
        <p:spPr>
          <a:xfrm>
            <a:off x="822960" y="373075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1463040" y="365760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the dashboard light up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463040" y="3977640"/>
            <a:ext cx="4572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0A77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&lt;frontend-url&gt;.vercel.app/admin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6400800" y="3730752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Live KPIs, pulsing live dot, +N new since last evaluation pill.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0080" y="4434840"/>
            <a:ext cx="10972800" cy="777240"/>
          </a:xfrm>
          <a:prstGeom prst="roundRect">
            <a:avLst>
              <a:gd name="adj" fmla="val 18824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22960" y="4599432"/>
            <a:ext cx="457200" cy="457200"/>
          </a:xfrm>
          <a:prstGeom prst="ellipse">
            <a:avLst/>
          </a:prstGeom>
          <a:solidFill>
            <a:srgbClr val="00E5A0"/>
          </a:solidFill>
          <a:ln/>
        </p:spPr>
      </p:sp>
      <p:sp>
        <p:nvSpPr>
          <p:cNvPr id="26" name="Text 24"/>
          <p:cNvSpPr/>
          <p:nvPr/>
        </p:nvSpPr>
        <p:spPr>
          <a:xfrm>
            <a:off x="822960" y="459943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1463040" y="452628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AI Evaluation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1463040" y="4846320"/>
            <a:ext cx="4572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0A77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inside the tender detail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6400800" y="4599432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Click ⚡ to score every bidder. Check the Bidders tab for explainable verdicts.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40080" y="5303520"/>
            <a:ext cx="10972800" cy="777240"/>
          </a:xfrm>
          <a:prstGeom prst="roundRect">
            <a:avLst>
              <a:gd name="adj" fmla="val 18824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22960" y="5468112"/>
            <a:ext cx="457200" cy="457200"/>
          </a:xfrm>
          <a:prstGeom prst="ellipse">
            <a:avLst/>
          </a:prstGeom>
          <a:solidFill>
            <a:srgbClr val="00E5A0"/>
          </a:solidFill>
          <a:ln/>
        </p:spPr>
      </p:sp>
      <p:sp>
        <p:nvSpPr>
          <p:cNvPr id="32" name="Text 30"/>
          <p:cNvSpPr/>
          <p:nvPr/>
        </p:nvSpPr>
        <p:spPr>
          <a:xfrm>
            <a:off x="822960" y="546811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1463040" y="539496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Override + download report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1463040" y="5715000"/>
            <a:ext cx="4572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0A77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PDF + JSON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6400800" y="5468112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Override one decision inline (audit-logged), then export the sign-off report.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10911535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16 / 17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E5A0"/>
          </a:solidFill>
          <a:ln/>
        </p:spPr>
      </p:sp>
      <p:sp>
        <p:nvSpPr>
          <p:cNvPr id="3" name="Shape 1"/>
          <p:cNvSpPr/>
          <p:nvPr/>
        </p:nvSpPr>
        <p:spPr>
          <a:xfrm>
            <a:off x="8534095" y="-1828800"/>
            <a:ext cx="5486400" cy="3657600"/>
          </a:xfrm>
          <a:prstGeom prst="ellipse">
            <a:avLst/>
          </a:prstGeom>
          <a:solidFill>
            <a:srgbClr val="00E5A0">
              <a:alpha val="8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-1828800" y="4114800"/>
            <a:ext cx="5486400" cy="3657600"/>
          </a:xfrm>
          <a:prstGeom prst="ellipse">
            <a:avLst/>
          </a:prstGeom>
          <a:solidFill>
            <a:srgbClr val="3D8BFD">
              <a:alpha val="8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0728655" y="640080"/>
            <a:ext cx="822960" cy="822960"/>
          </a:xfrm>
          <a:prstGeom prst="roundRect">
            <a:avLst>
              <a:gd name="adj" fmla="val 17778"/>
            </a:avLst>
          </a:prstGeom>
          <a:solidFill>
            <a:srgbClr val="00E5A0"/>
          </a:solidFill>
          <a:ln/>
        </p:spPr>
      </p:sp>
      <p:sp>
        <p:nvSpPr>
          <p:cNvPr id="6" name="Text 4"/>
          <p:cNvSpPr/>
          <p:nvPr/>
        </p:nvSpPr>
        <p:spPr>
          <a:xfrm>
            <a:off x="10728655" y="64008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640080" y="1554480"/>
            <a:ext cx="109728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0" b="1" spc="-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you.</a:t>
            </a:r>
            <a:endParaRPr lang="en-US" sz="11000" dirty="0"/>
          </a:p>
        </p:txBody>
      </p:sp>
      <p:sp>
        <p:nvSpPr>
          <p:cNvPr id="8" name="Text 6"/>
          <p:cNvSpPr/>
          <p:nvPr/>
        </p:nvSpPr>
        <p:spPr>
          <a:xfrm>
            <a:off x="640080" y="301752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i="1" dirty="0">
                <a:solidFill>
                  <a:srgbClr val="8A9AB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Bring CRPF procurement into the AI era —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640080" y="36118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E5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explainable, auditable, fast.</a:t>
            </a:r>
            <a:endParaRPr lang="en-US" sz="2800" dirty="0"/>
          </a:p>
        </p:txBody>
      </p:sp>
      <p:sp>
        <p:nvSpPr>
          <p:cNvPr id="10" name="Shape 8"/>
          <p:cNvSpPr/>
          <p:nvPr/>
        </p:nvSpPr>
        <p:spPr>
          <a:xfrm>
            <a:off x="640080" y="5029200"/>
            <a:ext cx="10972800" cy="1280160"/>
          </a:xfrm>
          <a:prstGeom prst="roundRect">
            <a:avLst>
              <a:gd name="adj" fmla="val 11429"/>
            </a:avLst>
          </a:prstGeom>
          <a:solidFill>
            <a:srgbClr val="0F2845"/>
          </a:solidFill>
          <a:ln w="12700">
            <a:solidFill>
              <a:srgbClr val="00E5A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516636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E5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THE LIVE DEMO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914400" y="5440680"/>
            <a:ext cx="5486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admin / crpf@2025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914400" y="594360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A9AB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Demo credentials are also shown on the login page · auto-fill button included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7772400" y="5440680"/>
            <a:ext cx="3657600" cy="502920"/>
          </a:xfrm>
          <a:prstGeom prst="roundRect">
            <a:avLst>
              <a:gd name="adj" fmla="val 50000"/>
            </a:avLst>
          </a:prstGeom>
          <a:solidFill>
            <a:srgbClr val="0A1628"/>
          </a:solidFill>
          <a:ln w="9525">
            <a:solidFill>
              <a:srgbClr val="00E5A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772400" y="5440680"/>
            <a:ext cx="3657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00E5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&lt;frontend-url&gt;.vercel.app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0911535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AB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17 / 17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CRPF · Theme 3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TenderAI — Pitch Deck</dc:title>
  <dc:subject>AI-Based Tender Evaluation &amp; Eligibility Analysis</dc:subject>
  <dc:creator>TenderAI Team</dc:creator>
  <cp:lastModifiedBy>TenderAI Team</cp:lastModifiedBy>
  <cp:revision>1</cp:revision>
  <dcterms:created xsi:type="dcterms:W3CDTF">2026-05-04T17:03:43Z</dcterms:created>
  <dcterms:modified xsi:type="dcterms:W3CDTF">2026-05-04T17:03:43Z</dcterms:modified>
</cp:coreProperties>
</file>