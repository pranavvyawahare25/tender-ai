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0E5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00200" y="640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534095" y="77724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0F2845"/>
          </a:solidFill>
          <a:ln w="9525">
            <a:solidFill>
              <a:srgbClr val="1F3F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34095" y="777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CRPF · Theme 3 · Hackathon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spc="-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analysis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government procurement.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that turns 200-page tenders + heterogeneous bidder docs into explainable, auditable Pass / Fail / Review verdicts — in minutes, not days.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Llama-3.3 70B (Groq) + Sentence-Embeddings + Rules    FRONTEND · React (Vercel)    BACKEND · FastAPI (Render)    DEMO · admin / crpf@2025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TenderAI Project · Round 1 → Round 2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evaluation is slow, inconsistent, and unauditable today.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TENDER (NIT)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BIDDERS PER TENDER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3464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TIME PER CRITERION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3464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A SIGN-OFF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429768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real life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35240" y="2560320"/>
            <a:ext cx="164592" cy="164592"/>
          </a:xfrm>
          <a:prstGeom prst="ellipse">
            <a:avLst/>
          </a:prstGeom>
          <a:solidFill>
            <a:srgbClr val="FF4D6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4688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evaluators reach different verdicts on the same packet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35240" y="3200400"/>
            <a:ext cx="164592" cy="164592"/>
          </a:xfrm>
          <a:prstGeom prst="ellipse">
            <a:avLst/>
          </a:prstGeom>
          <a:solidFill>
            <a:srgbClr val="FF4D6A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3108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Bidders quietly disqualified for missing one document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3840480"/>
            <a:ext cx="164592" cy="164592"/>
          </a:xfrm>
          <a:prstGeom prst="ellipse">
            <a:avLst/>
          </a:prstGeom>
          <a:solidFill>
            <a:srgbClr val="FF4D6A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7490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OCR figures misread → wrong rejection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35240" y="4480560"/>
            <a:ext cx="164592" cy="164592"/>
          </a:xfrm>
          <a:prstGeom prst="ellipse">
            <a:avLst/>
          </a:prstGeom>
          <a:solidFill>
            <a:srgbClr val="FF4D6A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43891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Cartel / coordinated bidding goes unnoticed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35240" y="5120640"/>
            <a:ext cx="164592" cy="164592"/>
          </a:xfrm>
          <a:prstGeom prst="ellipse">
            <a:avLst/>
          </a:prstGeom>
          <a:solidFill>
            <a:srgbClr val="FF4D6A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5029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reconstruction takes weeks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TenderAI in one sentence.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two-portal web platform that takes a tender + a pile of bidder documents in any format and produces </a:t>
            </a:r>
            <a:pPr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pPr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sign-off-ready verdicts in minutes. </a:t>
            </a:r>
            <a:pPr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3520440" cy="2331720"/>
          </a:xfrm>
          <a:prstGeom prst="roundRect">
            <a:avLst>
              <a:gd name="adj" fmla="val 6275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160520"/>
            <a:ext cx="822960" cy="8229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60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1874520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verdict cites criterion, document, page, value, reason and confidence.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1688" y="3931920"/>
            <a:ext cx="3520440" cy="2331720"/>
          </a:xfrm>
          <a:prstGeom prst="roundRect">
            <a:avLst>
              <a:gd name="adj" fmla="val 6275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4160520"/>
            <a:ext cx="822960" cy="8229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4160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5596128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36008" y="5120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Append-only audit log of every automated decision and every human override.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3931920"/>
            <a:ext cx="3520440" cy="2331720"/>
          </a:xfrm>
          <a:prstGeom prst="roundRect">
            <a:avLst>
              <a:gd name="adj" fmla="val 6275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4160520"/>
            <a:ext cx="822960" cy="8229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4160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520" dirty="0"/>
          </a:p>
        </p:txBody>
      </p:sp>
      <p:sp>
        <p:nvSpPr>
          <p:cNvPr id="22" name="Text 20"/>
          <p:cNvSpPr/>
          <p:nvPr/>
        </p:nvSpPr>
        <p:spPr>
          <a:xfrm>
            <a:off x="9317736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7616" y="5120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Multi-strategy OCR + deterministic engine. Hours of officer time → minutes.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 200-page NIT to a signed report.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1945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6400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tender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 drops the NIT PDF.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80944" y="2103120"/>
            <a:ext cx="21945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9544" y="2697480"/>
            <a:ext cx="6400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9544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criteria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9544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/ financial / compliance — separated.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9784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21808" y="2103120"/>
            <a:ext cx="21945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50408" y="2697480"/>
            <a:ext cx="6400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5550408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Bidders submit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Vendors apply via the public Bidder Portal.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70648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662672" y="2103120"/>
            <a:ext cx="21945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91272" y="2697480"/>
            <a:ext cx="6400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Auto-evaluate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91272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Eligible · Not Eligible · Manual Review.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11512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0003536" y="2103120"/>
            <a:ext cx="219456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32136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232136" y="2697480"/>
            <a:ext cx="64008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3" name="Text 31"/>
          <p:cNvSpPr/>
          <p:nvPr/>
        </p:nvSpPr>
        <p:spPr>
          <a:xfrm>
            <a:off x="10232136" y="2880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report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32136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Exportable, audit-ready, criterion-by-criterion.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212080"/>
            <a:ext cx="1097280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Bidder Portal is fully public · Admin Dashboard is locked behind a single fixed account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5779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paper trail loss · No silent rejections · No data leaves your container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TWO PORTALS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Two clearly-separated experiences.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486400" cy="4297680"/>
          </a:xfrm>
          <a:prstGeom prst="roundRect">
            <a:avLst>
              <a:gd name="adj" fmla="val 3404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34840" y="21945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3D2A"/>
          </a:solidFill>
          <a:ln w="9525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NO LOGIN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 Portal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Vendors &amp; Contractors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Browse open CRPF tenders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typed PDFs, scans, phone photos, DOCX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account, no password, no friction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Instant submission confirmation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5623560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623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PORTAL  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828800"/>
            <a:ext cx="5212080" cy="4297680"/>
          </a:xfrm>
          <a:prstGeom prst="roundRect">
            <a:avLst>
              <a:gd name="adj" fmla="val 3404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057400"/>
            <a:ext cx="914400" cy="9144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9601200" y="219456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3D8B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RESTRICTED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Evaluation Committee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3383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33832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AI-extracted, type-tagged criteria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3931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39319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Per-bidder explainable verdicts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4480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5160" y="4480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Manual-review queue with audit log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5029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5029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 / PDF report export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5623560"/>
            <a:ext cx="4709160" cy="365760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3D8B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623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admin / crpf@2025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LIVE OPERATIONS CONSOLE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war-room dashboard that lights up as bids arrive.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68680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Tenders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evaluated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703320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 Submissions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all tenders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1993392"/>
            <a:ext cx="182880" cy="1828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78308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537960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Decisions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need manual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178308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372600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Extracted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7260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+ financial + compliance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530352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CRPF/MT/2025-26/004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31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Proof Vehicles — Phase III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617720" y="3703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70332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4526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68680" y="4983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4526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240280" y="4983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4526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611880" y="4983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" y="5440680"/>
            <a:ext cx="484632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" y="5440680"/>
            <a:ext cx="2926080" cy="164592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36" name="Shape 34"/>
          <p:cNvSpPr/>
          <p:nvPr/>
        </p:nvSpPr>
        <p:spPr>
          <a:xfrm>
            <a:off x="3794760" y="5440680"/>
            <a:ext cx="1097280" cy="164592"/>
          </a:xfrm>
          <a:prstGeom prst="roundRect">
            <a:avLst>
              <a:gd name="adj" fmla="val 50000"/>
            </a:avLst>
          </a:prstGeom>
          <a:solidFill>
            <a:srgbClr val="FFB74D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544068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FF4D6A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detail dashboard 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520440"/>
            <a:ext cx="530352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379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KPIs polling every 12 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3796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System-wide audit timeline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3796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🪜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4944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Per-criterion eligibility funnel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5349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Risk Radar (anomaly detection)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37960" y="5760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49440" y="5760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Bidder × criterion comparison matrix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HYBRID AI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AI · zero hallucinated verdicts.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18288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PyMuPDF + Tesseract + python-docx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29584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201168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5" name="Text 13"/>
          <p:cNvSpPr/>
          <p:nvPr/>
        </p:nvSpPr>
        <p:spPr>
          <a:xfrm>
            <a:off x="375818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520" dirty="0"/>
          </a:p>
        </p:txBody>
      </p:sp>
      <p:sp>
        <p:nvSpPr>
          <p:cNvPr id="16" name="Text 14"/>
          <p:cNvSpPr/>
          <p:nvPr/>
        </p:nvSpPr>
        <p:spPr>
          <a:xfrm>
            <a:off x="4718304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58184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Llama-3.3 70B on Groq · structured 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5624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19088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7688" y="2011680"/>
            <a:ext cx="822960" cy="82296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520" dirty="0"/>
          </a:p>
        </p:txBody>
      </p:sp>
      <p:sp>
        <p:nvSpPr>
          <p:cNvPr id="22" name="Text 20"/>
          <p:cNvSpPr/>
          <p:nvPr/>
        </p:nvSpPr>
        <p:spPr>
          <a:xfrm>
            <a:off x="7607808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47688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all-MiniLM-L6-v2 · cosine similarity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25128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08592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37192" y="2011680"/>
            <a:ext cx="822960" cy="822960"/>
          </a:xfrm>
          <a:prstGeom prst="ellipse">
            <a:avLst/>
          </a:prstGeom>
          <a:solidFill>
            <a:srgbClr val="00A77B"/>
          </a:solidFill>
          <a:ln/>
        </p:spPr>
      </p:sp>
      <p:sp>
        <p:nvSpPr>
          <p:cNvPr id="27" name="Text 25"/>
          <p:cNvSpPr/>
          <p:nvPr/>
        </p:nvSpPr>
        <p:spPr>
          <a:xfrm>
            <a:off x="9537192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520" dirty="0"/>
          </a:p>
        </p:txBody>
      </p:sp>
      <p:sp>
        <p:nvSpPr>
          <p:cNvPr id="28" name="Text 26"/>
          <p:cNvSpPr/>
          <p:nvPr/>
        </p:nvSpPr>
        <p:spPr>
          <a:xfrm>
            <a:off x="10497312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37192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engine · explainable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023360"/>
            <a:ext cx="10972800" cy="2377440"/>
          </a:xfrm>
          <a:prstGeom prst="roundRect">
            <a:avLst>
              <a:gd name="adj" fmla="val 6154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Minimum Annual Turnover criterion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5720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4572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PyMuPDF lifts the typed NIT text in 0.3 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9377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4937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Llama-3.3 70B → {criterion: "Minimum Annual Turnover", value: "₹5 crore", mandatory: true}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3035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match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53035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Bidder field "yearly_revenue" → criterion · cosine 0.78 (≥ 0.45 threshold)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56692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5669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 crore ≥ ₹5 crore → PASS  · combined confidence 0.94 (high)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6035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tag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6035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extractor=LLM (Groq · Llama-3) · match=semantic 0.78 · verdict=rule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EXPLAINABILITY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carries its receipt.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inside one verdict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Minimum Annual Turnover (₹5 crore)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 value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₹8.0 Crore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175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30175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8328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33832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Bidder value meets or exceeds requirement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490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3749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financials.pdf · page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148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41148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0.94 (high) · OCR 0.97 · extraction 0.92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4805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06040" y="448056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(Groq · Llama-3.3 70B)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4632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463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strategy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06040" y="48463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🧬 Semantic similarity 0.78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212080"/>
            <a:ext cx="548640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1208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06040" y="5212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(admin can override inline · audit-logged)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0" y="2286000"/>
            <a:ext cx="52120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286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40880" y="2359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Criterion-level traceability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"rejected, no reason given" — the criterion is named.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063240"/>
            <a:ext cx="52120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063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040880" y="3136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 citation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 filename + page number on every result.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3840480"/>
            <a:ext cx="52120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3840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040880" y="39136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rejections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Ambiguous values automatically routed to NEED_REVIEW.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617720"/>
            <a:ext cx="52120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46177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040880" y="46908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4088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Inline override with reason, captured to audit log.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5394960"/>
            <a:ext cx="521208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5394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040880" y="5468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04088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Immutable JSONL of every action — automated or human.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INNOVATION · LAYER 4 OF THE AI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Radar — beyond pass/fail.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Cross-bidder integrity checks that catch what manual review misses.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688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4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688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291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bidders share a PAN prefix or address tokens — likely related entities.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228600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24688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4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4688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42048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0288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bidding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291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bidders' annual turnover figures within 0.5% of each other.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83296" y="228600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24688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896" y="24688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63656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11896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OCR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11896" y="3291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Extracted field at &lt;70% confidence — possible forgery / scan misread.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4805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4805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4462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mandatory data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5303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extracted value for a mandatory criterion.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61688" y="429768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0288" y="44805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4D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44805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42048" y="4462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90288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documents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90288" y="53035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Identical filename submitted by more than one bidder.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92440" y="429768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0F28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frontend-derived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Runs over already-extracted data — no extra LLM calls, no extra latency, no extra cost.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VISUALIZATIONS OFFICERS ACTUALLY NEED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procurement officers actually compare bids.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85216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Rows = bidders · Columns = criteria · Cells = pass/fail/review + value + confidence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10515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43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47672" y="2743200"/>
            <a:ext cx="10515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1947672" y="2743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26664" y="2743200"/>
            <a:ext cx="10515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3026664" y="2743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05656" y="2743200"/>
            <a:ext cx="10515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4105656" y="2743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84648" y="2743200"/>
            <a:ext cx="105156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5184648" y="2743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105156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5468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47672" y="315468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112" y="324612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2039112" y="32461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39112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26664" y="315468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18104" y="324612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3118104" y="32461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18104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05656" y="315468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97096" y="324612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4197096" y="32461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97096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84648" y="315468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76088" y="324612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35" name="Text 33"/>
          <p:cNvSpPr/>
          <p:nvPr/>
        </p:nvSpPr>
        <p:spPr>
          <a:xfrm>
            <a:off x="5276088" y="32461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76088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68680" y="3931920"/>
            <a:ext cx="105156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931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SecureNet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47672" y="393192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39112" y="40233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2039112" y="40233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039112" y="438912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26664" y="393192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18104" y="40233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45" name="Text 43"/>
          <p:cNvSpPr/>
          <p:nvPr/>
        </p:nvSpPr>
        <p:spPr>
          <a:xfrm>
            <a:off x="3118104" y="40233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118104" y="438912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05656" y="393192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97096" y="40233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49" name="Text 47"/>
          <p:cNvSpPr/>
          <p:nvPr/>
        </p:nvSpPr>
        <p:spPr>
          <a:xfrm>
            <a:off x="4197096" y="40233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197096" y="438912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84648" y="393192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76088" y="40233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</p:sp>
      <p:sp>
        <p:nvSpPr>
          <p:cNvPr id="53" name="Text 51"/>
          <p:cNvSpPr/>
          <p:nvPr/>
        </p:nvSpPr>
        <p:spPr>
          <a:xfrm>
            <a:off x="5276088" y="40233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276088" y="438912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" y="4709160"/>
            <a:ext cx="105156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47091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Infra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47672" y="470916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39112" y="480060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</p:sp>
      <p:sp>
        <p:nvSpPr>
          <p:cNvPr id="59" name="Text 57"/>
          <p:cNvSpPr/>
          <p:nvPr/>
        </p:nvSpPr>
        <p:spPr>
          <a:xfrm>
            <a:off x="2039112" y="48006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039112" y="51663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26664" y="470916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18104" y="480060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</p:sp>
      <p:sp>
        <p:nvSpPr>
          <p:cNvPr id="63" name="Text 61"/>
          <p:cNvSpPr/>
          <p:nvPr/>
        </p:nvSpPr>
        <p:spPr>
          <a:xfrm>
            <a:off x="3118104" y="48006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118104" y="51663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105656" y="470916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97096" y="480060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67" name="Text 65"/>
          <p:cNvSpPr/>
          <p:nvPr/>
        </p:nvSpPr>
        <p:spPr>
          <a:xfrm>
            <a:off x="4197096" y="48006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197096" y="51663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184648" y="4709160"/>
            <a:ext cx="1051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76088" y="480060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</p:sp>
      <p:sp>
        <p:nvSpPr>
          <p:cNvPr id="71" name="Text 69"/>
          <p:cNvSpPr/>
          <p:nvPr/>
        </p:nvSpPr>
        <p:spPr>
          <a:xfrm>
            <a:off x="5276088" y="48006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276088" y="51663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675120" y="1783080"/>
            <a:ext cx="493776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037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Funnel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90372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bidders narrow through criteria.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9037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698480" y="2743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5/5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903720" y="303580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79" name="Shape 77"/>
          <p:cNvSpPr/>
          <p:nvPr/>
        </p:nvSpPr>
        <p:spPr>
          <a:xfrm>
            <a:off x="6903720" y="303580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/>
        </p:spPr>
      </p:sp>
      <p:sp>
        <p:nvSpPr>
          <p:cNvPr id="80" name="Text 78"/>
          <p:cNvSpPr/>
          <p:nvPr/>
        </p:nvSpPr>
        <p:spPr>
          <a:xfrm>
            <a:off x="690372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≥ 5 cr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698480" y="32918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903720" y="358444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83" name="Shape 81"/>
          <p:cNvSpPr/>
          <p:nvPr/>
        </p:nvSpPr>
        <p:spPr>
          <a:xfrm>
            <a:off x="6903720" y="3584448"/>
            <a:ext cx="3383280" cy="164592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/>
        </p:spPr>
      </p:sp>
      <p:sp>
        <p:nvSpPr>
          <p:cNvPr id="84" name="Text 82"/>
          <p:cNvSpPr/>
          <p:nvPr/>
        </p:nvSpPr>
        <p:spPr>
          <a:xfrm>
            <a:off x="690372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≥ 3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0698480" y="3840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903720" y="413308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87" name="Shape 85"/>
          <p:cNvSpPr/>
          <p:nvPr/>
        </p:nvSpPr>
        <p:spPr>
          <a:xfrm>
            <a:off x="6903720" y="4133088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/>
        </p:spPr>
      </p:sp>
      <p:sp>
        <p:nvSpPr>
          <p:cNvPr id="88" name="Text 86"/>
          <p:cNvSpPr/>
          <p:nvPr/>
        </p:nvSpPr>
        <p:spPr>
          <a:xfrm>
            <a:off x="6903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698480" y="4389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3/5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903720" y="468172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91" name="Shape 89"/>
          <p:cNvSpPr/>
          <p:nvPr/>
        </p:nvSpPr>
        <p:spPr>
          <a:xfrm>
            <a:off x="6903720" y="4681728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/>
        </p:spPr>
      </p:sp>
      <p:sp>
        <p:nvSpPr>
          <p:cNvPr id="92" name="Text 90"/>
          <p:cNvSpPr/>
          <p:nvPr/>
        </p:nvSpPr>
        <p:spPr>
          <a:xfrm>
            <a:off x="690372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registration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0698480" y="49377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3/5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903720" y="523036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95" name="Shape 93"/>
          <p:cNvSpPr/>
          <p:nvPr/>
        </p:nvSpPr>
        <p:spPr>
          <a:xfrm>
            <a:off x="6903720" y="5230368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00A77B"/>
          </a:solidFill>
          <a:ln/>
        </p:spPr>
      </p:sp>
      <p:sp>
        <p:nvSpPr>
          <p:cNvPr id="96" name="Text 94"/>
          <p:cNvSpPr/>
          <p:nvPr/>
        </p:nvSpPr>
        <p:spPr>
          <a:xfrm>
            <a:off x="690372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ELIGIBLE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10698480" y="54864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903720" y="577900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99" name="Shape 97"/>
          <p:cNvSpPr/>
          <p:nvPr/>
        </p:nvSpPr>
        <p:spPr>
          <a:xfrm>
            <a:off x="6903720" y="5779008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100" name="Text 9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 · zero magic · production-shape from day 1.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49240" cy="4480560"/>
          </a:xfrm>
          <a:prstGeom prst="roundRect">
            <a:avLst>
              <a:gd name="adj" fmla="val 3265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11680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003D2A"/>
          </a:solidFill>
          <a:ln w="9525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Vercel · static SPA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Two-portal SPA (public Bidder + locked Admin)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97764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AuthContext + localStorage session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Axios client with VITE_API_URL fallback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89204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CountUp + live polling (8 s tender, 12 s overview)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34924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Pure CSS variables — no framework lock-in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5349240" cy="4480560"/>
          </a:xfrm>
          <a:prstGeom prst="roundRect">
            <a:avLst>
              <a:gd name="adj" fmla="val 3265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011680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3D8B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011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Render · Python 3.10 web service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3520440"/>
            <a:ext cx="164592" cy="16459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429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PyMuPDF · Tesseract · python-docx (multi-OCR)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3904488"/>
            <a:ext cx="164592" cy="16459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8130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🧠 Groq · Llama-3.3 70B (LLM extraction)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92240" y="4288536"/>
            <a:ext cx="164592" cy="16459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1970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🧬 sentence-transformers · all-MiniLM-L6-v2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4672584"/>
            <a:ext cx="164592" cy="16459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45811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Confidence scorer (40% OCR · 60% extraction)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92240" y="5056632"/>
            <a:ext cx="164592" cy="16459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4965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rule engine — auditable verdicts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92240" y="5440680"/>
            <a:ext cx="164592" cy="16459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5349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ReportLab PDF + JSON · append-only audit log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on Vercel + Render.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48640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380" dirty="0"/>
          </a:p>
        </p:txBody>
      </p:sp>
      <p:sp>
        <p:nvSpPr>
          <p:cNvPr id="9" name="Text 7"/>
          <p:cNvSpPr/>
          <p:nvPr/>
        </p:nvSpPr>
        <p:spPr>
          <a:xfrm>
            <a:off x="1874520" y="2057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React SPA · global CDN · instant deploys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Project Root: frontend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6301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Build: npm run 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922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Output: dist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215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Rewrite /(.*) → /index.html (SPA)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  · https://api.onrender.com/api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230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VITE_ADMIN_USERNAME · admin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5229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VITE_ADMIN_PASSWORD · crpf@2025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1828800"/>
            <a:ext cx="521208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011680"/>
            <a:ext cx="777240" cy="777240"/>
          </a:xfrm>
          <a:prstGeom prst="ellipse">
            <a:avLst/>
          </a:prstGeom>
          <a:solidFill>
            <a:srgbClr val="00A77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380" dirty="0"/>
          </a:p>
        </p:txBody>
      </p:sp>
      <p:sp>
        <p:nvSpPr>
          <p:cNvPr id="23" name="Text 21"/>
          <p:cNvSpPr/>
          <p:nvPr/>
        </p:nvSpPr>
        <p:spPr>
          <a:xfrm>
            <a:off x="7589520" y="2057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8952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web service · Tesseract built-in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Root: backend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Build: pip install -r requirements.txt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39227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Start: uvicorn main:app --port $PORT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42153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Persistent disk mounted at data/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937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FRONTEND_URL · https://app.vercel.app  (CORS)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0" y="5230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PYTHONUNBUFFERED · 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IMPACT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procurement officer.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49240" cy="2103120"/>
          </a:xfrm>
          <a:prstGeom prst="roundRect">
            <a:avLst>
              <a:gd name="adj" fmla="val 6957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per tender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vs. ~12 min × 60 criteria-bidder pairs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1920240"/>
            <a:ext cx="5349240" cy="2103120"/>
          </a:xfrm>
          <a:prstGeom prst="roundRect">
            <a:avLst>
              <a:gd name="adj" fmla="val 6957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0574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600" dirty="0"/>
          </a:p>
        </p:txBody>
      </p:sp>
      <p:sp>
        <p:nvSpPr>
          <p:cNvPr id="13" name="Text 11"/>
          <p:cNvSpPr/>
          <p:nvPr/>
        </p:nvSpPr>
        <p:spPr>
          <a:xfrm>
            <a:off x="6464808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explainable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4808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Pass · Fail · Review traced to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349240" cy="2103120"/>
          </a:xfrm>
          <a:prstGeom prst="roundRect">
            <a:avLst>
              <a:gd name="adj" fmla="val 6957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89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6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rejections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806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ambiguous → manual review, never auto-fail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251960"/>
            <a:ext cx="5349240" cy="2103120"/>
          </a:xfrm>
          <a:prstGeom prst="roundRect">
            <a:avLst>
              <a:gd name="adj" fmla="val 6957"/>
            </a:avLst>
          </a:prstGeom>
          <a:solidFill>
            <a:srgbClr val="0F2845"/>
          </a:solidFill>
          <a:ln w="12700">
            <a:solidFill>
              <a:srgbClr val="1F3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389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7600" dirty="0"/>
          </a:p>
        </p:txBody>
      </p:sp>
      <p:sp>
        <p:nvSpPr>
          <p:cNvPr id="21" name="Text 19"/>
          <p:cNvSpPr/>
          <p:nvPr/>
        </p:nvSpPr>
        <p:spPr>
          <a:xfrm>
            <a:off x="6464808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automated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5806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criterion × bidder verdicts per tender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WHY WE WIN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official rubric.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Relevance &amp; Depth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1945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Realistic CRPF tender numbering, EMD wording, mandatory flags · human-in-the-loop reality acknowledged.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8036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03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&amp; Innovation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30632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3-layer hybrid AI: Llama-3.3 70B (Groq) for extraction · sentence-embedding semantic match · deterministic rule engine · AI Risk Radar.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4904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Deployability &amp; Govt Feasibility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9319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OCR + rules run inside your container · audit log · JSON+PDF sign-off reports · Vercel + Render production deploy today.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1772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177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Quality &amp; Presentation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83080" y="480060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Pulsing live indicators · animated KPIs · creds shown on login · live submission moment in demo.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48640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00E5A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48640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3080" y="5394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Long-Term Impact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83080" y="56692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Stateless container · multi-tenant ready · time-saved metric aggregates · roadmap to govt-DB + DSC sign-off.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Production hardening, no rewrites.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0440" cy="2011680"/>
          </a:xfrm>
          <a:prstGeom prst="roundRect">
            <a:avLst>
              <a:gd name="adj" fmla="val 7273"/>
            </a:avLst>
          </a:prstGeom>
          <a:solidFill>
            <a:srgbClr val="0F28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second-pass extractor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Mistral 7B / Llama 3-8B rescues criteria the regex misses. Verdict still emitted by deterministic engine.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1688" y="1828800"/>
            <a:ext cx="3520440" cy="2011680"/>
          </a:xfrm>
          <a:prstGeom prst="roundRect">
            <a:avLst>
              <a:gd name="adj" fmla="val 7273"/>
            </a:avLst>
          </a:prstGeom>
          <a:solidFill>
            <a:srgbClr val="0F28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0116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0288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Aadhaar-eSign / DSC sign-off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0288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 digital signature into the PDF report at download time. Audit log captures the signature event.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828800"/>
            <a:ext cx="3520440" cy="2011680"/>
          </a:xfrm>
          <a:prstGeom prst="roundRect">
            <a:avLst>
              <a:gd name="adj" fmla="val 7273"/>
            </a:avLst>
          </a:prstGeom>
          <a:solidFill>
            <a:srgbClr val="0F2845"/>
          </a:solidFill>
          <a:ln w="12700">
            <a:solidFill>
              <a:srgbClr val="3D8B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3D8B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20116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11896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S3 storage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11896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Storage shim already abstracts the swap; add KMS-encrypted bidder docs and relational session tables.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3520440" cy="2011680"/>
          </a:xfrm>
          <a:prstGeom prst="roundRect">
            <a:avLst>
              <a:gd name="adj" fmla="val 7273"/>
            </a:avLst>
          </a:prstGeom>
          <a:solidFill>
            <a:srgbClr val="0F2845"/>
          </a:solidFill>
          <a:ln w="12700">
            <a:solidFill>
              <a:srgbClr val="3D8B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06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3D8B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062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Per-tender encryption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Symmetric key per tender; client-side encryption of bidder uploads. Admin sees plaintext only after sign-in.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61688" y="4023360"/>
            <a:ext cx="3520440" cy="2011680"/>
          </a:xfrm>
          <a:prstGeom prst="roundRect">
            <a:avLst>
              <a:gd name="adj" fmla="val 7273"/>
            </a:avLst>
          </a:prstGeom>
          <a:solidFill>
            <a:srgbClr val="0F2845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0288" y="4206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42062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90288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OCR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0288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Hindi + regional language tender + bidder support. Verdicts shown in officer's preferred language.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83296" y="4023360"/>
            <a:ext cx="3520440" cy="2011680"/>
          </a:xfrm>
          <a:prstGeom prst="roundRect">
            <a:avLst>
              <a:gd name="adj" fmla="val 7273"/>
            </a:avLst>
          </a:prstGeom>
          <a:solidFill>
            <a:srgbClr val="0F2845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11896" y="4206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2243F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42062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11896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bidder app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11896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Phone-camera capture with auto-orientation and edge detection so vendors can shoot paper certificates directly.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TRY IT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works in 60 seconds.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Bidder Portal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&lt;frontend-url&gt;.vercel.app/bidder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993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Browse open tenders. Click Apply on any one. Upload the sample bidder PDFs.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62072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Admin Login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&lt;frontend-url&gt;.vercel.app/login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8620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Auto-fill the demo credentials shown on screen and click Sign 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dashboard light 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977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&lt;frontend-url&gt;.vercel.app/admin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37307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KPIs, pulsing live dot, +N new since last evaluation pill.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Evaluation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846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the tender detail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4599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⚡ to score every bidder. Check the Bidders tab for explainable verdicts.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109728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468112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468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+ download report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5715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+ JSON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54681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Override one decision inline (audit-logged), then export the sign-off report.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3657600"/>
          </a:xfrm>
          <a:prstGeom prst="ellipse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3657600"/>
          </a:xfrm>
          <a:prstGeom prst="ellipse">
            <a:avLst/>
          </a:prstGeom>
          <a:solidFill>
            <a:srgbClr val="3D8BFD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28655" y="6400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0E5A0"/>
          </a:solidFill>
          <a:ln/>
        </p:spPr>
      </p:sp>
      <p:sp>
        <p:nvSpPr>
          <p:cNvPr id="6" name="Text 4"/>
          <p:cNvSpPr/>
          <p:nvPr/>
        </p:nvSpPr>
        <p:spPr>
          <a:xfrm>
            <a:off x="10728655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Bring CRPF procurement into the AI era —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auditable, fast.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972800" cy="1280160"/>
          </a:xfrm>
          <a:prstGeom prst="roundRect">
            <a:avLst>
              <a:gd name="adj" fmla="val 11429"/>
            </a:avLst>
          </a:prstGeom>
          <a:solidFill>
            <a:srgbClr val="0F28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DEMO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440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/ crpf@2025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 credentials are also shown on the login page · auto-fill button included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544068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 w="9525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5440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&lt;frontend-url&gt;.vercel.app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CRPF · Theme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TenderAI — Pitch Deck</dc:title>
  <dc:subject>AI-Based Tender Evaluation &amp; Eligibility Analysis</dc:subject>
  <dc:creator>TenderAI Team</dc:creator>
  <cp:lastModifiedBy>TenderAI Team</cp:lastModifiedBy>
  <cp:revision>1</cp:revision>
  <dcterms:created xsi:type="dcterms:W3CDTF">2026-05-05T10:33:15Z</dcterms:created>
  <dcterms:modified xsi:type="dcterms:W3CDTF">2026-05-05T10:33:15Z</dcterms:modified>
</cp:coreProperties>
</file>